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917a093774e71" /><Relationship Type="http://schemas.openxmlformats.org/officeDocument/2006/relationships/extended-properties" Target="/docProps/app.xml" Id="R642cf16748a74d26" /><Relationship Type="http://schemas.openxmlformats.org/officeDocument/2006/relationships/officeDocument" Target="/ppt/presentation.xml" Id="R2105293213a344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37a947b52478e"/>
  </p:sldMasterIdLst>
  <p:notesMasterIdLst>
    <p:notesMasterId xmlns:r="http://schemas.openxmlformats.org/officeDocument/2006/relationships" r:id="R06a38519547b4bdb"/>
  </p:notesMasterIdLst>
  <p:sldIdLst>
    <p:sldId xmlns:r="http://schemas.openxmlformats.org/officeDocument/2006/relationships" id="256" r:id="R2409f659d07a463d"/>
    <p:sldId xmlns:r="http://schemas.openxmlformats.org/officeDocument/2006/relationships" id="257" r:id="Rb27d7660367e4cf5"/>
    <p:sldId xmlns:r="http://schemas.openxmlformats.org/officeDocument/2006/relationships" id="258" r:id="Rd3b470b016954446"/>
    <p:sldId xmlns:r="http://schemas.openxmlformats.org/officeDocument/2006/relationships" id="259" r:id="Rb4de07405ca54c96"/>
    <p:sldId xmlns:r="http://schemas.openxmlformats.org/officeDocument/2006/relationships" id="260" r:id="R439f7ebde7114355"/>
    <p:sldId xmlns:r="http://schemas.openxmlformats.org/officeDocument/2006/relationships" id="261" r:id="R3d7a88689adf43b8"/>
    <p:sldId xmlns:r="http://schemas.openxmlformats.org/officeDocument/2006/relationships" id="262" r:id="R259503c0bc694f90"/>
    <p:sldId xmlns:r="http://schemas.openxmlformats.org/officeDocument/2006/relationships" id="263" r:id="R92e8d5ad0694419a"/>
    <p:sldId xmlns:r="http://schemas.openxmlformats.org/officeDocument/2006/relationships" id="264" r:id="Rb8eb64adaf9748b3"/>
    <p:sldId xmlns:r="http://schemas.openxmlformats.org/officeDocument/2006/relationships" id="265" r:id="R2ae52070500c4e67"/>
    <p:sldId xmlns:r="http://schemas.openxmlformats.org/officeDocument/2006/relationships" id="266" r:id="R6debc899ce9c492d"/>
    <p:sldId xmlns:r="http://schemas.openxmlformats.org/officeDocument/2006/relationships" id="267" r:id="R874c0d753113461b"/>
    <p:sldId xmlns:r="http://schemas.openxmlformats.org/officeDocument/2006/relationships" id="268" r:id="R142306c2b45e4882"/>
    <p:sldId xmlns:r="http://schemas.openxmlformats.org/officeDocument/2006/relationships" id="269" r:id="Ra5a06028ef83452a"/>
    <p:sldId xmlns:r="http://schemas.openxmlformats.org/officeDocument/2006/relationships" id="270" r:id="R170405ad3db7462c"/>
    <p:sldId xmlns:r="http://schemas.openxmlformats.org/officeDocument/2006/relationships" id="271" r:id="R941380ef0db24054"/>
    <p:sldId xmlns:r="http://schemas.openxmlformats.org/officeDocument/2006/relationships" id="272" r:id="R0dc0151826954368"/>
    <p:sldId xmlns:r="http://schemas.openxmlformats.org/officeDocument/2006/relationships" id="273" r:id="Rfd6092a0873a42cc"/>
    <p:sldId xmlns:r="http://schemas.openxmlformats.org/officeDocument/2006/relationships" id="274" r:id="Rc86b96871d494d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5add8a04a74e4f" /><Relationship Type="http://schemas.openxmlformats.org/officeDocument/2006/relationships/slideMaster" Target="/ppt/slideMasters/slideMaster1.xml" Id="R49837a947b52478e" /><Relationship Type="http://schemas.openxmlformats.org/officeDocument/2006/relationships/notesMaster" Target="/ppt/notesMasters/notesMaster1.xml" Id="R06a38519547b4bdb" /><Relationship Type="http://schemas.openxmlformats.org/officeDocument/2006/relationships/presProps" Target="/ppt/presProps.xml" Id="R98cd3672345f4a76" /><Relationship Type="http://schemas.openxmlformats.org/officeDocument/2006/relationships/tableStyles" Target="/ppt/tableStyles.xml" Id="Rb18ff108236240a7" /><Relationship Type="http://schemas.openxmlformats.org/officeDocument/2006/relationships/slide" Target="/ppt/slides/slide1.xml" Id="R2409f659d07a463d" /><Relationship Type="http://schemas.openxmlformats.org/officeDocument/2006/relationships/slide" Target="/ppt/slides/slide2.xml" Id="Rb27d7660367e4cf5" /><Relationship Type="http://schemas.openxmlformats.org/officeDocument/2006/relationships/slide" Target="/ppt/slides/slide3.xml" Id="Rd3b470b016954446" /><Relationship Type="http://schemas.openxmlformats.org/officeDocument/2006/relationships/slide" Target="/ppt/slides/slide4.xml" Id="Rb4de07405ca54c96" /><Relationship Type="http://schemas.openxmlformats.org/officeDocument/2006/relationships/slide" Target="/ppt/slides/slide5.xml" Id="R439f7ebde7114355" /><Relationship Type="http://schemas.openxmlformats.org/officeDocument/2006/relationships/slide" Target="/ppt/slides/slide6.xml" Id="R3d7a88689adf43b8" /><Relationship Type="http://schemas.openxmlformats.org/officeDocument/2006/relationships/slide" Target="/ppt/slides/slide7.xml" Id="R259503c0bc694f90" /><Relationship Type="http://schemas.openxmlformats.org/officeDocument/2006/relationships/slide" Target="/ppt/slides/slide8.xml" Id="R92e8d5ad0694419a" /><Relationship Type="http://schemas.openxmlformats.org/officeDocument/2006/relationships/slide" Target="/ppt/slides/slide9.xml" Id="Rb8eb64adaf9748b3" /><Relationship Type="http://schemas.openxmlformats.org/officeDocument/2006/relationships/slide" Target="/ppt/slides/slide10.xml" Id="R2ae52070500c4e67" /><Relationship Type="http://schemas.openxmlformats.org/officeDocument/2006/relationships/slide" Target="/ppt/slides/slide11.xml" Id="R6debc899ce9c492d" /><Relationship Type="http://schemas.openxmlformats.org/officeDocument/2006/relationships/slide" Target="/ppt/slides/slide12.xml" Id="R874c0d753113461b" /><Relationship Type="http://schemas.openxmlformats.org/officeDocument/2006/relationships/slide" Target="/ppt/slides/slide13.xml" Id="R142306c2b45e4882" /><Relationship Type="http://schemas.openxmlformats.org/officeDocument/2006/relationships/slide" Target="/ppt/slides/slide14.xml" Id="Ra5a06028ef83452a" /><Relationship Type="http://schemas.openxmlformats.org/officeDocument/2006/relationships/slide" Target="/ppt/slides/slide15.xml" Id="R170405ad3db7462c" /><Relationship Type="http://schemas.openxmlformats.org/officeDocument/2006/relationships/slide" Target="/ppt/slides/slide16.xml" Id="R941380ef0db24054" /><Relationship Type="http://schemas.openxmlformats.org/officeDocument/2006/relationships/slide" Target="/ppt/slides/slide17.xml" Id="R0dc0151826954368" /><Relationship Type="http://schemas.openxmlformats.org/officeDocument/2006/relationships/slide" Target="/ppt/slides/slide18.xml" Id="Rfd6092a0873a42cc" /><Relationship Type="http://schemas.openxmlformats.org/officeDocument/2006/relationships/slide" Target="/ppt/slides/slide19.xml" Id="Rc86b96871d49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80ffb71287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2132e4b534eb9" /><Relationship Type="http://schemas.openxmlformats.org/officeDocument/2006/relationships/notesMaster" Target="/ppt/notesMasters/notesMaster1.xml" Id="R493e0fd6e7164a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1e04369c940bc" /><Relationship Type="http://schemas.openxmlformats.org/officeDocument/2006/relationships/notesMaster" Target="/ppt/notesMasters/notesMaster1.xml" Id="R62de007a0c80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b300f457ef4b76" /><Relationship Type="http://schemas.openxmlformats.org/officeDocument/2006/relationships/notesMaster" Target="/ppt/notesMasters/notesMaster1.xml" Id="R04f8b916bdbe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cbaf38a0f147b8" /><Relationship Type="http://schemas.openxmlformats.org/officeDocument/2006/relationships/notesMaster" Target="/ppt/notesMasters/notesMaster1.xml" Id="Raa06d1af848c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7c514473ed4425" /><Relationship Type="http://schemas.openxmlformats.org/officeDocument/2006/relationships/notesMaster" Target="/ppt/notesMasters/notesMaster1.xml" Id="Rde372e8aca9f46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d9abdb5b5d4b41" /><Relationship Type="http://schemas.openxmlformats.org/officeDocument/2006/relationships/notesMaster" Target="/ppt/notesMasters/notesMaster1.xml" Id="Rf1354e507dde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c499763cc41d8" /><Relationship Type="http://schemas.openxmlformats.org/officeDocument/2006/relationships/notesMaster" Target="/ppt/notesMasters/notesMaster1.xml" Id="R957b9ce01ca2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db4487e5894b46" /><Relationship Type="http://schemas.openxmlformats.org/officeDocument/2006/relationships/notesMaster" Target="/ppt/notesMasters/notesMaster1.xml" Id="R9a4ffb8d246243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56e704ec14f4c" /><Relationship Type="http://schemas.openxmlformats.org/officeDocument/2006/relationships/notesMaster" Target="/ppt/notesMasters/notesMaster1.xml" Id="R6c87bfdfa3ff4b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5a9a1976454cc3" /><Relationship Type="http://schemas.openxmlformats.org/officeDocument/2006/relationships/notesMaster" Target="/ppt/notesMasters/notesMaster1.xml" Id="Rd84ddaaeeb394d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d1b51c0a747ff" /><Relationship Type="http://schemas.openxmlformats.org/officeDocument/2006/relationships/notesMaster" Target="/ppt/notesMasters/notesMaster1.xml" Id="R5cdb2444c59a40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e0335f91514ca9" /><Relationship Type="http://schemas.openxmlformats.org/officeDocument/2006/relationships/notesMaster" Target="/ppt/notesMasters/notesMaster1.xml" Id="Rf0fd14fa26264c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520cbb889c405a" /><Relationship Type="http://schemas.openxmlformats.org/officeDocument/2006/relationships/notesMaster" Target="/ppt/notesMasters/notesMaster1.xml" Id="Rdba8a52c821449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be95ee7eca4251" /><Relationship Type="http://schemas.openxmlformats.org/officeDocument/2006/relationships/notesMaster" Target="/ppt/notesMasters/notesMaster1.xml" Id="R1423261af99042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e75a95571a4712" /><Relationship Type="http://schemas.openxmlformats.org/officeDocument/2006/relationships/notesMaster" Target="/ppt/notesMasters/notesMaster1.xml" Id="R1854c4098efa49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031d245cd2483c" /><Relationship Type="http://schemas.openxmlformats.org/officeDocument/2006/relationships/notesMaster" Target="/ppt/notesMasters/notesMaster1.xml" Id="R40d9906fca1b4f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6af87d709e4465" /><Relationship Type="http://schemas.openxmlformats.org/officeDocument/2006/relationships/notesMaster" Target="/ppt/notesMasters/notesMaster1.xml" Id="Rfe474e9682b94c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a55da0a669443d" /><Relationship Type="http://schemas.openxmlformats.org/officeDocument/2006/relationships/notesMaster" Target="/ppt/notesMasters/notesMaster1.xml" Id="R67fad347f1444d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d3de9b4fa3423c" /><Relationship Type="http://schemas.openxmlformats.org/officeDocument/2006/relationships/notesMaster" Target="/ppt/notesMasters/notesMaster1.xml" Id="R2ba5558a740a4e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문장은 투자 판단 자동화가 아니라 분석 신호를 구조화하는 시스템이라고 못 박는다.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역할을 앞에서 짚고, 이후 Agent 슬라이드마다 담당 구현과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출처는 본문에 크게 노출하지 않고 Q&amp;A 대응용으로만 기억한다.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수익률 수치는 표본 분석 기준이므로 숫자보다 문제 구조를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stock-agent는 아이디어가 아니라 현재 구현한 MVP라는 표현을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악마의 대변인이라는 표현 대신 Guardrail과 전문 Agent 관점 분리라고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7장은 레이어, 8장은 11노드 흐름으로 나누어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문서는 docs/architecture/pipeline_11node_groundtruth.md다.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LangGraph Send API fan-out의 이유를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Quant는 '정확한 수치 계산 담당'이라는 한 문장으로 빠르게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30초 버전: 뉴스 수집, 임베딩 저장, Hybrid 검색, reranker, evidence/risk 생성 순서만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MCP는 '외부 데이터 경로를 표준 인터페이스로 노출한 점' 정도만 짚는다.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요청에 macro를 돌리는 게 아니라 조건부 실행이라는 점을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투자 권유가 아니라 포트폴리오 맥락화된 분석 신호라고 반복한다.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심사위원에게 금융 도메인에서 안전 검증이 왜 필요한지 짧게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 로컬 시연 영상으로 전환한다. 저장소에는 아직 영상 파일이 없으므로 HTML/PPTX에는 포스터형 슬라이드만 넣었다.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구현 차별점만 말하고 경쟁사 비교를 반복하지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상업성은 '개인용 PB-lite'와 'B2B 분석 모듈' 두 축으로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문장은 천천히 말하고 Q&amp;A로 넘긴다.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33d0a367e41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386761aad4e68" /><Relationship Type="http://schemas.openxmlformats.org/officeDocument/2006/relationships/slideLayout" Target="/ppt/slideLayouts/slideLayout1.xml" Id="Ra4a583b141f144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a583b141f144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834174e9246ae" /><Relationship Type="http://schemas.openxmlformats.org/officeDocument/2006/relationships/image" Target="/ppt/media/image.png" Id="R074d89156ade4f7f" /><Relationship Type="http://schemas.openxmlformats.org/officeDocument/2006/relationships/notesSlide" Target="/ppt/notesSlides/notesSlide1.xml" Id="Ra1ab9e1c2ba2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e8298157d4f43" /><Relationship Type="http://schemas.openxmlformats.org/officeDocument/2006/relationships/notesSlide" Target="/ppt/notesSlides/notesSlide2.xml" Id="Rd97e846f468a41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15df3a7f94dd4" /><Relationship Type="http://schemas.openxmlformats.org/officeDocument/2006/relationships/notesSlide" Target="/ppt/notesSlides/notesSlide3.xml" Id="R31c1a70028dd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ad6ecdfa4e47" /><Relationship Type="http://schemas.openxmlformats.org/officeDocument/2006/relationships/notesSlide" Target="/ppt/notesSlides/notesSlide4.xml" Id="Rf58fde8d63ee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48b94b50d4387" /><Relationship Type="http://schemas.openxmlformats.org/officeDocument/2006/relationships/notesSlide" Target="/ppt/notesSlides/notesSlide5.xml" Id="R4caaff4e7e4f41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1ef98ba5a4abe" /><Relationship Type="http://schemas.openxmlformats.org/officeDocument/2006/relationships/notesSlide" Target="/ppt/notesSlides/notesSlide6.xml" Id="R469b58eeb00345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fa4205cfb4c7e" /><Relationship Type="http://schemas.openxmlformats.org/officeDocument/2006/relationships/image" Target="/ppt/media/image2.png" Id="R8187fabc64f446d7" /><Relationship Type="http://schemas.openxmlformats.org/officeDocument/2006/relationships/notesSlide" Target="/ppt/notesSlides/notesSlide7.xml" Id="Rc07e9f2c0d70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e599c34734cfa" /><Relationship Type="http://schemas.openxmlformats.org/officeDocument/2006/relationships/notesSlide" Target="/ppt/notesSlides/notesSlide8.xml" Id="R0e0bcf7c1c354a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24b2f3d194eb5" /><Relationship Type="http://schemas.openxmlformats.org/officeDocument/2006/relationships/notesSlide" Target="/ppt/notesSlides/notesSlide9.xml" Id="R26c50cdfcc36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b906a84c4306" /><Relationship Type="http://schemas.openxmlformats.org/officeDocument/2006/relationships/notesSlide" Target="/ppt/notesSlides/notesSlide10.xml" Id="R5a15732883c94b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b7a92737a4f52" /><Relationship Type="http://schemas.openxmlformats.org/officeDocument/2006/relationships/notesSlide" Target="/ppt/notesSlides/notesSlide11.xml" Id="R2e11c2aa183e43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10eedef8a4975" /><Relationship Type="http://schemas.openxmlformats.org/officeDocument/2006/relationships/notesSlide" Target="/ppt/notesSlides/notesSlide12.xml" Id="Rbab4c7c726c14a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ffbfeeba145cf" /><Relationship Type="http://schemas.openxmlformats.org/officeDocument/2006/relationships/notesSlide" Target="/ppt/notesSlides/notesSlide13.xml" Id="R7f9a552f7f264f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da9a1bb104ad7" /><Relationship Type="http://schemas.openxmlformats.org/officeDocument/2006/relationships/notesSlide" Target="/ppt/notesSlides/notesSlide14.xml" Id="R3deb141adb9144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0caeb2321469a" /><Relationship Type="http://schemas.openxmlformats.org/officeDocument/2006/relationships/notesSlide" Target="/ppt/notesSlides/notesSlide15.xml" Id="R6e2dfde2791144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6645273e54633" /><Relationship Type="http://schemas.openxmlformats.org/officeDocument/2006/relationships/image" Target="/ppt/media/image.jpeg" Id="R4a9c7a0daefd4f0b" /><Relationship Type="http://schemas.openxmlformats.org/officeDocument/2006/relationships/image" Target="/ppt/media/image2.jpeg" Id="R5f1d989252504c6f" /><Relationship Type="http://schemas.openxmlformats.org/officeDocument/2006/relationships/notesSlide" Target="/ppt/notesSlides/notesSlide16.xml" Id="Re8fb14fa8cf840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c3b44ded04ea7" /><Relationship Type="http://schemas.openxmlformats.org/officeDocument/2006/relationships/notesSlide" Target="/ppt/notesSlides/notesSlide17.xml" Id="Rcd988b867d2d44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d20c0e717457c" /><Relationship Type="http://schemas.openxmlformats.org/officeDocument/2006/relationships/notesSlide" Target="/ppt/notesSlides/notesSlide18.xml" Id="R755f654e4cac48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bb45e69bb4057" /><Relationship Type="http://schemas.openxmlformats.org/officeDocument/2006/relationships/notesSlide" Target="/ppt/notesSlides/notesSlide19.xml" Id="Rec83d2c41db7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band">
            <a:extLst xmlns:a="http://schemas.openxmlformats.org/drawingml/2006/main">
              <a:ext uri="{FF2B5EF4-FFF2-40B4-BE49-F238E27FC236}">
                <a16:creationId xmlns:a16="http://schemas.microsoft.com/office/drawing/2014/main" id="{7E088484-0940-4047-8846-4EBDF514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FAB8194-CB39-430C-813C-216D4F4F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57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 final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5F8929-ACB0-4834-90DF-FD26C5D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2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stock-agent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A47EAE-387F-491F-B7B8-56B8684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514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>
                <a:solidFill>
                  <a:srgbClr val="D8E5F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>
                <a:solidFill>
                  <a:srgbClr val="D8E5F7"/>
                </a:solidFill>
                <a:latin typeface="Malgun Gothic"/>
                <a:ea typeface="Malgun Gothic"/>
                <a:cs typeface="Malgun Gothic"/>
              </a:rPr>
              <a:t>개인투자자의 의사결정을 구조화하는 멀티에이전트 분석 보조 시스템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58DA8EC4-C7A6-45F6-BF85-8113BDB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32DD6C-1F29-4805-8F45-293B7B73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투자성향과 보유 포트폴리오를 함께 반영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EC5A2E7-987C-4F13-B812-40CF417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568109-AF52-4C9D-9E0D-8EB978A9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정량·정성·Peer·거시 데이터를 Agent가 분리 분석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2783CB0F-6B31-488C-8D23-385FE496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CDE0B3-2AB3-435F-B325-AB760628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 권유가 아닌 근거 기반 분석 신호 제공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80FA0BB-7496-4BCD-8969-AC012EC3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2026-06-27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d89156ade4f7f"/>
          <a:srcRect xmlns:a="http://schemas.openxmlformats.org/drawingml/2006/main" l="24803" t="0" r="24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14350"/>
            <a:ext cx="5219700" cy="5829300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</p:spTree>
    <p:extLst>
      <p:ext uri="{BB962C8B-B14F-4D97-AF65-F5344CB8AC3E}">
        <p14:creationId xmlns:p14="http://schemas.microsoft.com/office/powerpoint/2010/main" val="152167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56B4297A-3303-48FB-83B1-43B4F9BC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7B6233DF-2C7B-47C0-A739-B861B5A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7480569-0FCC-4D50-B270-C8701B92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81141A-720A-43CD-9016-1B5FAF7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AB3FAC-CEB7-49DF-B337-5087792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팀 역할: Agent별 책임을 나눠 실제 구현까지 연결했다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F057C4-9004-4D4B-AFB6-015BE5C6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PR/README 기반 역할 요약과 마지막 메시지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A688DDE-52D3-4B8C-8AF0-6D1704B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0F65AE-95FF-46BA-847E-C21EB0B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287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이동원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4721C9-65D4-436D-A3FA-E25C5C98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PM·문서/설계·Competitor·평가/CI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2A57E5BB-48A2-4957-8DF2-CB6567D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DEAB5C-808A-4E45-AD38-0A52DB62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백형준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FC18CA-8B05-4915-B2D2-DB27C270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UI·투자성향 intake·LangGraph streaming·LLM 연동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2C6D33C-7C7B-46B5-B5EA-596712D6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FFD877-A06B-40F2-A0BA-A1D7CFA1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윤수정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7FF5D1-04C0-4C25-8C98-B2FBC58C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Quant·Qual 공시·Guardrail·출력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12A7136-304C-45A8-9D2A-FAF8EC7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098B45B-F109-480B-A378-3111650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문수빈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3DC1E8B-71A3-4652-A969-734C899A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Macro·Supabase·LangGraph fan-out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7F0B0622-4159-417C-B196-E423CD0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4CDA30B-0F5E-437E-8F1A-24B8A4A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719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김도예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851F6CC-7959-4C9C-9FA4-F7822A58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뉴스 크롤러·RAG 임베딩·Qual Hybrid 검색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C1DF930A-3791-4193-827F-D051829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AF3DF3-6D65-459E-BEDE-65149D5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E157D3C-41CC-4765-A5C4-DEF33CA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435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발표는 팀 역할 → 문제 정의 → Agent 구조 → 시연 영상 → 사업성과 한계 순서로 빠르게 전개한다.</a:t>
            </a:r>
          </a:p>
        </p:txBody>
      </p:sp>
    </p:spTree>
    <p:extLst>
      <p:ext uri="{BB962C8B-B14F-4D97-AF65-F5344CB8AC3E}">
        <p14:creationId xmlns:p14="http://schemas.microsoft.com/office/powerpoint/2010/main" val="672233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D2A8062E-4313-48D4-B444-2C9A5FD5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9851E31-0786-4632-A206-91C4D36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DA5792C-53A6-4B4A-ABA4-015983E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848829-6412-4250-BA28-6152A36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6E3821-FB02-41A5-A450-25790B3E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개인투자 시장은 커졌지만 판단 부담도 커졌다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20E5F9-6B9B-4293-AA12-54BB42B1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시장 확대와 판단 복잡도 상승을 한 장에 압축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C525E9D-D9AF-46A7-88E0-FFCA2791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798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5496D"/>
            </a:solidFill>
            <a:prstDash val="solid"/>
          </a:ln>
        </p:spPr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B4F6E300-E9E9-4172-8B1F-070FC71D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7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5F859D-A30F-4617-8C1D-8F750F48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302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개인투자자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DAA0D0-502F-47B7-B3A0-F9C683B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302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1,442만 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43639A-4B33-4551-92CE-6558BEC1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02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rPr>
              <a:t>2025년 말 개인 기준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EF1644F-E75B-4F3F-984B-0C04EC60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676400"/>
            <a:ext cx="34798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5496D"/>
            </a:solidFill>
            <a:prstDash val="solid"/>
          </a:ln>
        </p:spPr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BDDA77D3-B621-4CC6-92E3-E9513907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676400"/>
            <a:ext cx="347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D43123-A6A7-4B3E-A196-EC54A11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1905000"/>
            <a:ext cx="302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주식거래 활동계좌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48AB470-6114-4598-9586-161838E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305050"/>
            <a:ext cx="302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1억 500만 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DB6503-375E-4BEA-8975-C29E266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33700"/>
            <a:ext cx="302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rPr>
              <a:t>2026.04.29 금융투자협회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B69F6AE-5BC3-43FF-9B58-732161DE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76400"/>
            <a:ext cx="34798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5496D"/>
            </a:solidFill>
            <a:prstDash val="solid"/>
          </a:ln>
        </p:spPr>
      </p:sp>
      <p:sp>
        <p:nvSpPr>
          <p:cNvPr id="1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250F97AA-A6C8-451F-A2B4-36447B77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76400"/>
            <a:ext cx="347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401F38-BFBF-4695-AE6E-185F6254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905000"/>
            <a:ext cx="302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개인 MTS 거래 비중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68DB2A1-E39A-4264-8934-B092EF74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05050"/>
            <a:ext cx="302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65.7%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BB774DF-006E-406C-A0E4-6E71C74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933700"/>
            <a:ext cx="302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rPr>
              <a:t>2026년 1~5월 한국거래소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5788E2A0-EB56-4E39-9450-72958F1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2D9CC0-1B70-4B3A-AB19-D054825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28BE82A-C1F1-413F-BF4C-A23A1573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720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투자는 대중화되었지만, 판단은 더 빠르고 복잡한 모바일 환경으로 이동했다.</a:t>
            </a:r>
          </a:p>
        </p:txBody>
      </p:sp>
    </p:spTree>
    <p:extLst>
      <p:ext uri="{BB962C8B-B14F-4D97-AF65-F5344CB8AC3E}">
        <p14:creationId xmlns:p14="http://schemas.microsoft.com/office/powerpoint/2010/main" val="189394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D04C892D-415F-4D13-A82B-88A3628E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87DB15B-12A6-4E0F-8F72-A92FD3D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A704291-AEBC-44BE-819F-D7FF6694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089E0D-B67B-4799-8CD3-19EDEB3E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06C731-BC03-41BC-9E06-46CA5370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문제: 정보는 많지만 근거 있는 통합 판단은 어렵다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D841A0-2659-4B1A-AD69-084E665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정보 과잉, 모바일 즉시성, 낮은 맥락화가 함께 만든 의사결정 공백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6BE49F0-E125-412D-A443-FBA33CE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848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E666E5B-DDD1-4BF8-BAF2-1836DEA8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4B2082-18A9-4660-92DD-89D0A02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2BBD5E-F8DC-4C3E-AE77-8A756FE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1~3종목 집중투자 비중 59.7%: 포트폴리오 리스크가 개인에게 집중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0DB37C94-5D1F-45BE-9751-E0C9C4A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848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F1E0A18-FC55-41EE-A98E-23A8A409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1AF5DA-6666-40EE-89E2-1A1788D9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7DA3088-EAFA-4F9B-BB68-42BAF048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19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디지털 금융이해력 59.3점: 모바일 금융 사용은 보편화됐지만 이해도는 부족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29125349-3010-4612-B3D9-CB7B8916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848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397FE79-877F-416B-BF77-D4A353E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45E8FBA-055C-4CFC-9010-2C744C5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F7C6F28-6E7F-4B81-804D-7CE5D624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개인 평균 수익률 부진: 흩어진 정보가 행동 편향을 줄여주지 못함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C01EDFA3-CB7D-4686-BBAD-9DE6D6DA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DEEF60-906E-4228-A329-46FFBC0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054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2185E95-E4D5-4074-90FC-E5E9DD2A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673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핵심 문제는 정보 부족이 아니라, 흩어진 정보를 내 포트폴리오 맥락에서 해석하는 능력의 부족이다.</a:t>
            </a:r>
          </a:p>
        </p:txBody>
      </p:sp>
    </p:spTree>
    <p:extLst>
      <p:ext uri="{BB962C8B-B14F-4D97-AF65-F5344CB8AC3E}">
        <p14:creationId xmlns:p14="http://schemas.microsoft.com/office/powerpoint/2010/main" val="1427450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373AF3B-1B86-487F-BF6C-B5729D8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1D165E0-E9F3-4B28-9457-8D9032C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0AA6A39-7969-443E-B7AF-5E2D816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72425B-E86B-4159-866B-80F3109D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CEB8A7-BEF0-487D-BA5C-F1CEEC88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기존 대안은 한 가지 축만 해결한다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EA7F7F-21BD-4DD9-9B0E-9466F3D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각 대안은 강점이 있지만 세 공백을 동시에 닫지는 못함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1352550"/>
                <a:gridCol w="1352550"/>
                <a:gridCol w="1352550"/>
                <a:gridCol w="5067300"/>
              </a:tblGrid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포트폴리오 맥락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멀티 관점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검증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증권사 MTS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정보는 많지만 종합 판단은 사용자 몫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로보어드바이저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자산배분 중심, 개별 종목 근거 설명 약함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LLM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데이터·출처·환각 통제 한계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stock-agent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포트폴리오 맥락에서 Agent별 근거를 합성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</a:tr>
            </a:tbl>
          </a:graphicData>
        </a:graphic>
      </p:graphicFrame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E5E91BB-B906-4CC3-84A8-0E99E475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2A6C03-548F-4B93-B700-5391EC7A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292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808F7A-8BCA-41AA-AA7C-9BDA2217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911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시장 공백은 내 보유 종목 기준으로 여러 근거를 검증해주는 분석 보조다.</a:t>
            </a:r>
          </a:p>
        </p:txBody>
      </p:sp>
    </p:spTree>
    <p:extLst>
      <p:ext uri="{BB962C8B-B14F-4D97-AF65-F5344CB8AC3E}">
        <p14:creationId xmlns:p14="http://schemas.microsoft.com/office/powerpoint/2010/main" val="9538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B9D7E36-C06F-4CC8-A19D-DD3C15D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EC47139-1D4D-4915-8696-DD852F8A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3514864-8F79-491C-BC05-A69E201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5481EC-93F7-444D-8E5C-99EAA0D7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7F26A1-E9BE-4FAD-B9F0-23CA4D05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왜 멀티 Agent인가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94E99E-BC7F-45B6-A24E-F4AE916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LLM 하나가 아니라 역할 분리, 근거 통합, 안전검증을 분리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0C3EFF7-2461-40E9-B77C-4C27093F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11FD04B-AE25-4F1A-9CF4-B5A83A02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E5B4EC-AA8E-43C7-9BCD-C7C4F1F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817C55-36A5-425D-8116-E318FF3F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4307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계산과 해석 분리: 정량 수치는 Tool/DB가 만들고 LLM은 설명과 합성에 집중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886D4757-717F-48B9-AF15-B863733E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8115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3986AB1-7012-4795-A071-EF859059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D12EE3-0D0F-4F1B-A39E-AE2F4BCB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B236568-08B2-44D0-B911-5CED356E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4307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관점 분리: Quant·Qual·Peer·Macro가 서로 다른 실패 범위와 책임을 가짐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30EDD018-7F3B-456D-B629-B39335E5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78C206AD-9BFC-4DC5-9576-DA17C5BB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18251FE-3036-4ECB-A0EF-1C734B2F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0DF958-B77E-4300-97A1-8AE9B04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7182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부분 실패 허용: 한 Agent가 실패해도 fallback과 warning으로 분석 흐름 유지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C2978413-5180-4E21-B5F8-9CF77832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0990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3CB98589-94D3-4B4A-9F2C-C3D04E1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E0BA1F-030B-44FF-BE86-761D4EF4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38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F5E1F86-5715-44BD-B15A-F2EAC932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최종 안전 검증: Guardrail이 투자 권유, PII, 근거 부족 표현을 마지막에 점검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229FF6DE-3BF9-49FC-A87B-A7408C8A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16AD5F6-2987-4F0F-A8B9-32239AC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1727C9B-D8BB-47D5-9B8A-2C6F366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2447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한 모델이 모든 판단을 말하는 구조보다, 역할을 나눠 계산·검색·합성·검증을 분리하는 구조가 더 설명 가능하다.</a:t>
            </a:r>
          </a:p>
        </p:txBody>
      </p:sp>
    </p:spTree>
    <p:extLst>
      <p:ext uri="{BB962C8B-B14F-4D97-AF65-F5344CB8AC3E}">
        <p14:creationId xmlns:p14="http://schemas.microsoft.com/office/powerpoint/2010/main" val="1391057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48571F0-E9F2-4FB5-B970-97D14935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1E67C79-CE3E-4C46-B4E4-D54E18F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36D286C-8BAA-47DD-95FE-91721F28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8FFE4F-F5B4-4AD1-BC66-01655B0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A5CB4F-1471-4765-8051-12D7C52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시스템 구성: UI, DB/RAG, LangGraph, 안전 검증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7CDB20-073D-43A2-BE9E-3A8F7531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README의 실제 구성도를 발표용으로 재사용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26A3DA2-DE89-409B-AC3C-C597D12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Streamlit UI에서 온보딩과 결과를 제공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8C9C3B3-199E-430E-8745-D236C0E7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PostgreSQL + pgvector로 정형 데이터와 RAG 검색 통합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E901992D-6F87-4091-A74E-E01B240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LangGraph StateGraph와 Send API로 worker Agent 동적 fan-out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CEB6A029-807A-4251-B8E7-ED64C59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LLM은 해석·합성에 사용하고, Guardrail은 규칙 기반으로 검증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7fabc64f446d7"/>
          <a:stretch xmlns:a="http://schemas.openxmlformats.org/drawingml/2006/main"/>
        </p:blipFill>
        <p:spPr>
          <a:xfrm xmlns:a="http://schemas.openxmlformats.org/drawingml/2006/main">
            <a:off x="5124450" y="1547454"/>
            <a:ext cx="6381750" cy="3591643"/>
          </a:xfrm>
          <a:prstGeom xmlns:a="http://schemas.openxmlformats.org/drawingml/2006/main" prst="roundRect">
            <a:avLst>
              <a:gd name="adj" fmla="val 4569"/>
            </a:avLst>
          </a:prstGeom>
        </p:spPr>
      </p:pic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D18AC50-9B2A-436A-8B26-EA0CDCC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08A46D-243F-473C-918D-3DD24E8E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02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CF76677-2342-4FBA-8A0E-646EA4B4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721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LangGraph가 worker Agent를 분리하고 DB/RAG/Guardrail이 근거와 안전성을 보완</a:t>
            </a:r>
          </a:p>
        </p:txBody>
      </p:sp>
    </p:spTree>
    <p:extLst>
      <p:ext uri="{BB962C8B-B14F-4D97-AF65-F5344CB8AC3E}">
        <p14:creationId xmlns:p14="http://schemas.microsoft.com/office/powerpoint/2010/main" val="1990727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DDA5B6A2-716A-4109-8A75-961515F2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E0D19FA-6298-4AA8-B9A7-6856C15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B486535-43DC-4CDC-B013-156FBEE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67353C-2413-422D-94FD-B91DE473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A1119B-BB6C-4E36-BA1C-74C619D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11노드 Agent 파이프라인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8DF387-14C6-4A93-9140-7D1449A2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Classifier 이후 필요한 worker를 fan-out하고 Strategist에서 join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358D4C0-2E06-42FE-8FFF-34D27C14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D38683-D2C9-48C0-A181-294F4E3C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75079-8C1E-4FB2-B04B-8D8A1600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3BD0DC9A-9E3B-4002-A2CB-D5549F89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38300"/>
            <a:ext cx="15049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998C91-5B15-4F5F-BCC0-2115C88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811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Classifier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4CDEFE66-E1F1-4CD3-B3C0-66DFF6F5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6D4634-4273-4484-9B8B-748E54CD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8C10EEB-4B61-40B2-95C8-E493763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0632B6-77D1-47B4-9599-7416DD91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Qual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9A26521-B950-402C-9A6F-84431A94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4F6EE7B-E55A-4A5D-9D7A-7D02C99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Competitor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EB96C83B-3801-4327-959B-375BA93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930B1DC-1B4D-4B2D-AA62-1C8679E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D67184F-493D-4C87-BB95-363FCC4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parallel worker 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77DA0-DB1D-4895-AE9A-0A82320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52650"/>
            <a:ext cx="0" cy="457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D35E2-84AC-43C9-8629-D995133B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76500"/>
            <a:ext cx="16287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44740-7CAE-418C-B368-01DF5F62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76500"/>
            <a:ext cx="1609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3B740-7EAA-472A-95B4-614C656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5906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29702-E124-4B99-9CA7-F8BD5D4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1571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37DE4C1D-9E92-442E-BAE5-535BC9AF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1619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2B0B4A-E0CE-4436-AD93-0E8803F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00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91D67-660A-4425-AA3B-52F53CEE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0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8A91EF-01AD-4876-ABB0-918BD0E9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1F9507C7-E2AD-4A4A-A880-E8686C9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57650"/>
            <a:ext cx="2095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6225C6F-D2FB-409E-87D4-2D6413F5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005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InvestmentAnalyst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2FF07-06E9-460F-8C14-4AA0380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B96AABB6-7ECE-48F9-98CF-4FE62EF3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57650"/>
            <a:ext cx="13716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C1D8D30-1071-4796-BE11-8C5F774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005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Guardrail</a:t>
            </a:r>
          </a:p>
        </p:txBody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45F06D6D-F69C-4889-8B8A-B44C03F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10150"/>
            <a:ext cx="18859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3A7DA93-E4D7-4212-9590-ED8F84E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530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GuardrailApply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9E149-444D-4704-B06B-F7841D16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02833368-425B-49E9-9CA1-0A4C02A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19240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28486A0-C809-4502-9C55-181B1CFC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530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ResultRenderer</a:t>
            </a:r>
          </a:p>
        </p:txBody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556050E8-0352-4FF0-A3E8-5BE86BF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3CF68D0C-0664-4A5D-8967-BC547714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293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119270A-DD92-440D-8177-E91EFE69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912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Classifier 이후 필요한 worker를 병렬 실행하고, Strategist에서 join한 뒤 Analyst와 Guardrail을 통과한다.</a:t>
            </a:r>
          </a:p>
        </p:txBody>
      </p:sp>
    </p:spTree>
    <p:extLst>
      <p:ext uri="{BB962C8B-B14F-4D97-AF65-F5344CB8AC3E}">
        <p14:creationId xmlns:p14="http://schemas.microsoft.com/office/powerpoint/2010/main" val="2015157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ABCC5D9-F99A-453A-AFEF-97534E85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24413C9-618D-4074-9A70-C7DC9CD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5DD1FC2-4132-49BF-B3EE-31F49769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798D7E-7999-4F79-9F66-B67ED07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E79338-AC19-4F93-9CC1-9CB24318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Curator·RequestClassifier: 질문을 실행 계획으로 바꾼다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7DC0DA-7D8B-4BF2-92CF-7FFE9ADA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사용자 자연어와 포트폴리오를 분석 가능한 종목·섹터·worker_plan으로 구조화하는 앞단 Agent입니다.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F52FC5F-DC7D-481A-B34B-7BCEB317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2DC0E2A-0A81-4593-8C43-B8CEF5D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A5B602-2A0B-4EC4-B64A-A9E819B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D6C8A3-A457-4DF5-A48B-371EEFD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사용자 질의·보유 포트폴리오 수신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473ADC8-0562-471A-8BC5-D023141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BC2652F-A5B9-44D9-8C04-70D7687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FA001A-E368-4828-9459-FD35AC1F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FC3162-B988-4FA1-A729-79EB758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분석 대상 종목/후보와 섹터 확정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30AA14BE-A295-48AF-B4F7-AADC7907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8566116-CC69-4088-ACE9-8C85124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EEE767-963D-4E71-AE3D-366C0604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BE4787-823C-4DBF-ABA6-F722ED95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intent·scope·urgency·depth 분류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62133B6E-2F44-45CC-A67B-894EDC5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2E3759B-53FC-48FC-8CE0-AF0A4AC3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96DC54D-FA8D-43A5-80AF-D74C1BF1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CF46DCB-698D-4F82-B358-0B3A9A7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Quant·Qual·Competitor·Macro worker_plan 생성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69678260-9517-46A5-85F9-E35A78E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68468B9-6B06-4EB1-8CF8-C5AD11A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670592F-5F4A-43DA-9461-2DD771CB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user_query, portfolio, onboarding profile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C2A40553-4B35-4470-99C0-0D1F4FA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2121652-0497-4854-B401-01DA2103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Decision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38A05E0-C7AE-4215-89D8-0DCC0360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single_stock / sector / portfolio 범위와 macro 실행 여부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2692431D-7EBC-449B-90C5-B63CAFD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1EAEED8-2879-4155-A599-71FDD5E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598F6F6-E426-46A9-8567-88C3D4E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CuratorResult, RequestClassification, graph_route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70A552EC-4BB1-418E-95A2-1C251E7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8380C41-0C92-4689-BDEA-59FAB9D8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2CEC255-3BC1-4830-AF87-969B80AA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Agent 구조의 출발점은 '무엇을 분석할지'와 '어떤 Agent를 실행할지'를 먼저 고정하는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947196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2D00608-8CFE-496E-9C71-1A163914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DFBEE16-40FB-4C36-9FC1-00F3847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3506103-1CC8-4228-9BB1-27D6428A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EC7FA36-2E0D-440E-9BDC-BC977AD7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765110-4F29-4FD2-A7E3-74610CFE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 Agent: LLM이 숫자를 만들지 않게 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1722EB-F13B-45B1-B2DB-5D06BCBD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DART 재무와 pykrx 시세를 기반으로 PER/PBR, 성장률, 수익성, 재무 리스크를 계산합니다.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998708C-FAD1-48EC-A793-F1FE3638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655D13F-3792-4109-B27E-41A6D32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EBC49E-7B0C-4130-83B2-8BF251B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744FD0-5928-43FE-8E7D-471118E3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Curator가 확정한 stock_code/corp_code 수신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817EE3A7-2AAB-471F-8AF0-3F70194B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2B16F0A-852A-492D-B2F0-106CB4EA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E5B94A-E661-4B42-9180-1BCD90D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A2F824-6631-4A4E-950D-BFCCAD7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시세와 재무제표 Tool 호출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E48868C-6069-413F-B637-2AA792DA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F59DEC4-2A92-49B6-9688-72F974E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80E8F7-397C-4EC4-AFFA-5A644964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C4B0AA4-737D-40E3-B916-BB211F0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PER/PBR/성장률/부채비율 등 지표 계산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70EED7AE-D444-46DF-8A7E-DDAF39D6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C394196-C62E-4FD4-AE58-D5DA089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6DBCDB1-E038-4B8F-B833-914C36E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9CDA246-6F5C-49D2-9136-4DBC712B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score, valuation_signal, reasons, risks 반환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55B1ED9E-EE7D-4F7A-B0A1-790A1E34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D69C569-E26F-4813-BE53-A9BF08C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원칙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5A0062B-D2EC-475A-8E4D-87BEE0E5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수치 생성은 Tool/DB 담당, LLM은 임의 보정 금지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C58F3645-3B29-4533-BBD9-F879B45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C39AF5B-DA03-4490-BCEE-807D30DF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16D1D50-5C5B-478B-904A-5C4C472D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DB/API 실패 시 보수적 fallback과 warning 남김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B8655970-946D-4764-BC6B-EFF624F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8B79C63-FEE3-4860-AEC4-E823E618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전달값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ED759A9-F29F-4468-B160-C59316FB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Strategist가 가중 합성할 정량 score와 핵심 이유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1C85D547-F305-4D06-9887-9188E72E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29518DB-6934-4204-BB13-F4077AE7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7CCDDB8-C307-4681-B68D-10F73047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정량 Agent는 설명 가능한 계산 근거를 제공해 LLM 환각 위험을 낮춘다.</a:t>
            </a:r>
          </a:p>
        </p:txBody>
      </p:sp>
    </p:spTree>
    <p:extLst>
      <p:ext uri="{BB962C8B-B14F-4D97-AF65-F5344CB8AC3E}">
        <p14:creationId xmlns:p14="http://schemas.microsoft.com/office/powerpoint/2010/main" val="16636831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2B8D3A0-C8D6-4121-B6A7-A7B8A57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D4F83B9-2E02-42CF-95C7-70F6F577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13E3CCA-2B1F-4C7D-B92C-32081CD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1C40A1-21E1-4F47-963C-F66E307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15DE3E-3C1C-433E-99A0-B986BD7B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Qual Agent: 뉴스 수집에서 evidence/risk까지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DE99C5-A6AF-4F2D-95A1-725ABDE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팀원이 정리한 뉴스 수집 → RAG 임베딩 → Hybrid/RRF 검색 → reranker → Qual evidence/risk 생성 흐름을 발표용으로 압축했습니다.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54CA5E6-16FB-41B1-966B-FF3B6FE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CEDB90C-35D2-410B-B958-6573906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FD8F78-AB76-419B-A592-F61C18CC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뉴스 수집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C18607-4674-41F8-8224-4D878938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네이버 금융 종목 뉴스와 공시 문서 적재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A3559CD3-1CDE-4C74-8808-B476D653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170E3F5-4EE8-4F4A-B1EE-6A08699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5295F1-6153-4B9B-A8A7-5EBEC004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RAG 임베딩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5F58A5-5BA3-411A-89CC-8239C7B8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raw_news → docs/chunks, bge-m3 벡터화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756E3D76-A31E-45D6-8F9D-01661980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5DBA62A-6AAD-437F-A60A-634FBD1D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097B788-1358-434A-9F0B-21D72E8E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Hybrid/RRF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B2AE66-79D5-4D05-A924-FD7C4358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pgvector 의미 검색 + keyword ts_rank를 RRF로 결합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BBEE3782-516F-4C34-B8A8-E8877183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8B125E6-320E-4174-8191-4CE6EF7A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7561742-C215-4689-9B5D-A015072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Reranker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F46F0DE-A1E7-4F71-AB6F-18090B94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선택적으로 top-k 후보를 cross-encoder 기준 재정렬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5BC13CDF-C0AE-455F-8638-6D9ABD7E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49BADE69-42B1-412B-AF5E-099CAE31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801DAC1-28C9-4845-9E59-7AEBB06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QualResult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A0D4F7E-6BC3-4233-91F8-C6FB88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evidence, sentiment, event_type, risk, fallback_reason 생성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1EDEC6AE-B7D2-40F4-B435-F024DFD3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1686DAB-B2F2-49E0-9A19-C43E03E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담당 자료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A788BA8-6DFD-4C2C-8AD9-2587E48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docs/agents/news_rag_pipeline.html, docs/agents/qual_agent_flow.html 기반</a:t>
            </a:r>
          </a:p>
        </p:txBody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9EDB0D22-CC45-45E8-8C64-0515C39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B38F356-3E2E-4808-AE4A-87D7B105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8D07B7F-AB1E-435E-9E62-6B7EA8D4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출처 없는 요약이 아니라 검색 근거를 Qual evidence로 전달</a:t>
            </a:r>
          </a:p>
        </p:txBody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735939CA-FAD7-4E01-8402-88DB1F47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199D643-34A0-40E5-90F0-BFF36D9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안정성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F516516-6522-4F4E-ACCF-ACECD59E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DB/임베딩 실패 시 fallback evidence와 reason을 남겨 Guardrail까지 전달</a:t>
            </a:r>
          </a:p>
        </p:txBody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DF92EAE5-459B-413D-BA37-8CD79DA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8D0392F-D636-4A3D-A199-A9094051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0F1B7CE4-C692-4189-B228-05658E25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Qual Agent는 '뉴스를 읽어준다'가 아니라, 검색 가능한 근거를 만들어 정성 리스크로 변환한다.</a:t>
            </a:r>
          </a:p>
        </p:txBody>
      </p:sp>
    </p:spTree>
    <p:extLst>
      <p:ext uri="{BB962C8B-B14F-4D97-AF65-F5344CB8AC3E}">
        <p14:creationId xmlns:p14="http://schemas.microsoft.com/office/powerpoint/2010/main" val="980401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ECCFF70-B0ED-467F-BE0D-40CEE702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F47D626-17E2-4277-896B-2EF10E8F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90092BF-6830-4243-834C-12831AC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5C530E-D7CE-448B-BFF7-1536E46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7ABC42-D151-442D-BCD1-BA158BE9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Competitor Agent: 같은 섹터 안에서 상대 위치를 계산한다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84BC0E-0E51-4F20-9E6B-61CCE698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대상 종목의 peer를 찾고, 밸류에이션·수익성·성장성·재무 안정성을 비교합니다.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DC86240-796F-4B7E-B56F-35AE73A5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276FA91-4B93-4EAC-94A6-08A8327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D9FDB8-780A-48CF-ADF8-3D5E303E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766D61-99E6-4E53-B070-3165D7E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Curator가 확정한 sector와 stock_code 수신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355FEA9B-C8B1-45C8-BB86-28E0A0A1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32D0277-0906-471A-B903-B6D428F8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3869E2-0428-4F32-93E1-3B0DCF4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B911857-DD7B-43E0-88A3-F262FF4E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company, stock_price, financial_statement에서 peer 후보 조회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06F56A5-7A43-4E73-9A9D-10737378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2F531308-32A0-433A-9EAF-6E30FACB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7FF3D0-6039-4ED8-B721-837A956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5022D2-2713-45CB-A84B-BBF7144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시총 band와 복합 유사도로 비교군 선정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2D2FB0E1-5363-4C85-AFDE-4793E5B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D3F65B5B-319C-4F1B-ADC6-BBF6ADC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6669062-D8C8-43B9-918E-8F792DCD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2E2C6B-108C-4077-AF8D-299B79E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상대 위치 score, warnings, peer_summary 반환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617DD9FA-B85E-4BA6-B867-D634797D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F91A779-AA4C-4E5B-B829-FA7B2CE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3단 경로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A4AE2B3-88D5-4CBC-901B-094F57EB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DB 성공 → MCP 실시간 시세 → 데모 최후 보루 mock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600A87D1-9AF4-4351-A231-495383A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D47E1D9-687C-4A24-A078-8DCCADE2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계산 기준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CD9B171-DF4B-4370-9DA5-CBFCACEA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PER/PBR/ROE/성장률/마진/부채비율/데이터 품질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81055CEB-2318-4862-AF58-1DB388BB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E14DCED-20A8-4515-AE1B-C0666A7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AD03D63-4691-4CBD-8740-8FDAA3A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사용자에게 '내 종목이 업종 내 어디쯤인지' 설명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58E3F034-8A0A-469B-AE9C-ECBBF8CE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28F5871-29CA-41A6-AADC-57BD851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7CE2153-C8C1-46C7-8E93-E8F3B7E3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Peer 비교를 분리했기 때문에 단일 종목 분석이 업종 맥락 없이 흐르는 문제를 줄인다.</a:t>
            </a:r>
          </a:p>
        </p:txBody>
      </p:sp>
    </p:spTree>
    <p:extLst>
      <p:ext uri="{BB962C8B-B14F-4D97-AF65-F5344CB8AC3E}">
        <p14:creationId xmlns:p14="http://schemas.microsoft.com/office/powerpoint/2010/main" val="1890527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3008F44-BD5F-4F98-936C-DB14480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16EE297-78F3-43C8-A1FC-42D59599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1606D01-2964-436C-9EFA-EB6BAB29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5CD0BF-E302-49F7-BFF9-2C40F41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DB8361-976C-48CF-B002-74CF2DC0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 Agent: 개별 종목을 거시 환경 안에 놓는다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F7422C-4DDC-448D-B59D-C06DB3B8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금리, 환율, CPI, GDP, 뉴스심리지수 등 거시 지표를 업종 영향으로 해석합니다.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FD12866-3BB6-40EB-88F7-02194E43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DD76AEE-1E55-4C4D-8DCD-2900C26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372804-0726-4913-BBFF-A0DB5769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352FEC-BB37-4C53-A511-D8EC0E84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sector와 as_of_date 기준 macro context 조회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A30C7AA5-337F-4B3F-9735-42659B5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64D8A91-6FC1-4517-9CE7-BA1F7BD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B91BD14-4B35-4569-B8B0-022482F9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18ACA4-275C-49EE-B5D9-181A14F7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금리·물가·성장·환율·심리 지표를 정규화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6D8B7B41-831B-41D4-9247-7EED19B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B74D6E8-3E1F-4C15-839F-3726091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85959AA-B49F-47BB-9251-A59B76E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CFC4EF9-CF3F-4D29-9A04-31132B3D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업종별 민감도에 따라 score와 risks 계산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C880BDBE-69B5-454D-85E2-21E55DE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33F938DD-9F2E-4605-A103-0173A03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C1537E4-7AB4-47CD-91C3-3D35838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A2C46A1-1E9C-4885-9D00-FF3AFA2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portfolio/sector 분석 또는 sector가 있는 단일 종목에서 조건부 실행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D77EB0F2-B969-4AFA-B23D-53BCF17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781A4FB-ABFD-4587-B7D4-B024314F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조건부 실행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1CF9520-1C77-4119-A1C9-2153FB60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Classifier worker_plan에 macro가 있을 때만 Send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48303767-F7F8-4505-9BB1-8952E9B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A572D43-D4F0-4032-B7D2-1E12D7A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해석 방향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5FA5CAC-0316-40EE-A5BB-C2B6D72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금리/환율/물가가 업종 수익성에 미치는 압력 설명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CAB4B690-61E9-4BAA-B1DE-E077607E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DD5DE23-D3C7-4512-89FC-9E334A00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B0C443B-4031-40B0-9DCA-B2E4871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 DB/tool 실패 시 보수적 지표와 warning 반환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444ED72B-BA4F-46F1-835E-AA20EB98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F399F85-9443-43D9-8658-57A84E1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B42CED8-9BEF-49F0-B5F8-76F898CB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Macro는 개별 종목 판단이 시장 환경과 분리되어 보이는 문제를 보완한다.</a:t>
            </a:r>
          </a:p>
        </p:txBody>
      </p:sp>
    </p:spTree>
    <p:extLst>
      <p:ext uri="{BB962C8B-B14F-4D97-AF65-F5344CB8AC3E}">
        <p14:creationId xmlns:p14="http://schemas.microsoft.com/office/powerpoint/2010/main" val="8617305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CC2C19A-43BB-431C-94C7-0AA32683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414F277-5ACA-4711-9DC0-E8CBCAA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A044B14-0392-4296-AA67-1E28C8A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9916E2-5F73-42F4-95F6-1040F5DB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6461D2-EB53-4A78-ACF8-DD55731A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Strategist·InvestmentAnalyst: 근거를 포트폴리오 맥락으로 합성한다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D98047-D5DC-48CA-ABBE-DFC84AE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Worker 결과를 단순 평균하지 않고, 사용자 보유 비중과 투자성향을 반영해 최종 분석 신호를 만듭니다.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B624885-0A90-4E56-8C5F-774E30F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54FC4FC-4663-4B5B-9862-75A077A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BE92EF-2B60-4A52-A6BA-B5FBB46A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4ECA33-CD9C-45DA-804E-6B157F9A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Quant·Qual·Competitor·Macro 결과 join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37291D78-EC81-49CC-8EB3-22C78E29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DFD2764-A5C5-4AD9-9EA7-AFC7708E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5F5A9A-EEB4-4879-A1F4-84627F88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2BE4C1-3D65-4C83-AA81-2FCDFC9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 포함 여부에 따라 가중치 재조정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F05BDDF5-1AD6-43E4-8626-1323B6F9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9E4456E-0829-43B5-951A-739ED13F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2DD0095-8B9F-4B98-A555-A22FC5C6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913C0C-7F7D-4D83-93A1-BD8851A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보유 비중·위험성향·투자기간으로 suitability 보정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3DC57C19-DB99-4ADF-B37B-E48950B0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91E7CA9-9655-40C0-BDBE-8F97109D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BDD544D-1C80-424B-B6D4-FED8D39B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432B5CB-C614-4AF1-BF67-F4B19CFF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sLLM/GLM이 thesis와 risk narrative를 보완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3E6ACDD8-AEC4-426B-8DA8-A7912EA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4980407-C1A6-4F7A-8645-6D9FBA13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가중 합성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333916A-E1B1-4213-9609-E70B399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 40~45%, Qual 25~30%, Competitor 20~25%, Macro 15%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A2E7AF3C-AB01-4529-8DCF-5C098714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90BF277-7C99-4095-909F-9417BFFE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7236D48-F0B9-4155-8CC5-BD1400CF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같은 종목이라도 보유 비중과 위험성향에 따라 suitability가 달라짐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E0A46C1F-5E93-431B-B2FD-5992CF3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434AD9A-1D48-47E5-B650-34CA9043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C1F2439-CFB8-4C3A-9E8F-1DBD50CD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LLM 실패 시 rule-based Strategist 결과를 유지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740907A2-CF64-4202-9678-D67F0419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62D3666-9938-4892-896D-CB10669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84AA445-A0CC-4263-8DB3-3B96C9D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개인화는 중간 근거를 바꾸는 것이 아니라, 최종 해석과 적합도에서 반영한다.</a:t>
            </a:r>
          </a:p>
        </p:txBody>
      </p:sp>
    </p:spTree>
    <p:extLst>
      <p:ext uri="{BB962C8B-B14F-4D97-AF65-F5344CB8AC3E}">
        <p14:creationId xmlns:p14="http://schemas.microsoft.com/office/powerpoint/2010/main" val="2076271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11D8DE6-C0B1-4CE0-8D88-9C514AC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DA0DD3C-9ECC-4A21-A8CF-9188157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D15DB12-07C5-4E18-A08B-2631B23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0C4013-6997-4BCB-96AC-3610107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DDE2F3-8393-4931-91E2-84FFA0D9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Guardrail·ResultRenderer: 안전하게 보여주는 마지막 단계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A4CFBD-3868-44C0-9C9B-E8F54316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최종 출력 전 PII, 욕설, 수익 보장, 투자 권유성 표현, 근거 부족을 점검하고 Tier 결과로 렌더링합니다.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CD8FFE8-636C-46E3-87DA-C06FD06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C3D4C92-C139-4545-9785-77547DFF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CADC1F-FDCA-4938-9505-AB041953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876EAC-9071-4061-A62C-46FC07A6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 결과를 Guardrail 7게이트로 검사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A2B07C0D-C954-4EBF-BA33-FFFF690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86A3003-33A5-4620-A93F-FB931D92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A327A3-6DE1-4CB3-BC7D-D8DF1EAF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5D6FB4-8151-4C06-81DC-75CCD67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PII나 금지 표현 발견 시 보수적 HOLD와 마스킹 적용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E2665B0-69F7-4177-96D5-FADD0A1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4F302C8-D5CF-4383-BB0C-AE65AD4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ADD906-0133-4451-9A8F-BCB18553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9E3CD84-223F-420D-BBA4-9C1101E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근거 부족은 recomposer revision loop로 최대 2회 재합성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3B27F2EF-F05C-4C0A-BBCB-BEDC549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0D7A5C5-4120-4765-A035-BA180E5B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84B804D-AAC4-4A88-AF2D-D910A9E3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9598B9-1E73-42DA-B11E-1325009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ResultRenderer가 Tier 1/2/3와 다운로드 산출물 구조화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FA101886-3FD5-4352-8051-93BC61C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4956DFE-7BE4-4321-A8FB-A3A6BEE5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Safety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6586FE8-BDE3-4288-9F39-642A69A2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 권유·수익 보장·민감정보 노출을 최종 차단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DFD17B33-AAC2-4BB7-A5D7-3E508C9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D5EF350-B440-4372-B015-4675F1A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Transparency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B98F0DB-B954-4FFE-AFE4-70030ACA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fallback과 근거 부족은 사용자 경고로 승격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13FE557C-F35D-4EE9-A87A-50A9C2E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B161CA4-7C16-4378-BF44-AEDB4837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0E8C50C-7528-4CDE-8C53-8E90E27B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한 줄 신호, 근거 카드, 상세 리포트로 분리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A723B907-8DF7-459D-87F0-48E19C8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1E3E619-534C-482C-9B02-FEC67A75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48568578-BB9A-4A10-A70C-AE5116F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좋은 분석보다 중요한 것은 위험한 표현을 그대로 내보내지 않는 구조다.</a:t>
            </a:r>
          </a:p>
        </p:txBody>
      </p:sp>
    </p:spTree>
    <p:extLst>
      <p:ext uri="{BB962C8B-B14F-4D97-AF65-F5344CB8AC3E}">
        <p14:creationId xmlns:p14="http://schemas.microsoft.com/office/powerpoint/2010/main" val="9433362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8E4B3CFC-57A3-48C4-9191-8B7C110E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BD2DAC3D-C7EC-4FD0-B2D3-7E245AA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3BD1DFE-D22F-4AAF-B6D4-FA16F311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4F336AE-35D1-4C34-8E6F-FA5E67E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3383A8-A59F-4C1B-A6ED-1F449F8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시연은 라이브 대신 영상으로 안정적으로 보여준다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34C65B-B250-4224-960F-3A78A47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라이브 조작 대신 준비된 영상으로 사용자 흐름을 안정적으로 전달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29B3489-8061-4048-B8D6-4835AD1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657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6172A"/>
          </a:solidFill>
          <a:ln xmlns:a="http://schemas.openxmlformats.org/drawingml/2006/main" w="9525">
            <a:solidFill>
              <a:srgbClr val="27507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c7a0daefd4f0b"/>
          <a:srcRect xmlns:a="http://schemas.openxmlformats.org/drawingml/2006/main" l="13643" t="0" r="13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790700"/>
            <a:ext cx="3028950" cy="234315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d989252504c6f"/>
          <a:srcRect xmlns:a="http://schemas.openxmlformats.org/drawingml/2006/main" l="13643" t="0" r="13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1790700"/>
            <a:ext cx="3028950" cy="234315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0DEA5912-59B5-4923-B1B6-B0E78A2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29100"/>
            <a:ext cx="1562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A35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920FF1-7F35-4AF4-9B7C-3CFE325B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▶ DEMO VIDEO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0A49D517-06F4-4D1D-8B8E-8552F60B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0:00 온보딩: 투자 목적·기간·손실 감내 등 7단계 입력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CF24129-1250-4452-96FF-EA0D379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0:25 포트폴리오: 보유 종목, 평단, 현금 비중 입력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440A394-51F8-41D3-A13A-7605E5D3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0:45 Agent 진행: Quant·Qual·Competitor·Macro 진행 상태 확인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0B83C6E7-5AED-4545-92DF-2E3678F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1:15 결과: HOLD/신뢰도/포트폴리오 적합도와 근거 카드 확인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6FCE663-D80C-4761-8380-55606039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95794E6-B61E-4134-935F-D26111A7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EC3311-F48E-4A21-ACE5-6BBB5B1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9117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발표장 리스크를 줄이기 위해 라이브 조작은 최소화하고, 준비된 시연 영상으로 전체 사용자 흐름을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7244339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FC41B2E-CAB5-4972-BF3A-DC31A3F5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BB32E97F-142A-4708-B92D-BDF1375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CC5A943-5472-4642-A1F1-1B76098A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D49F68-C910-49D2-9BB0-F609418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CD4B90-CBDE-4084-A546-8CE96FD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stock-agent의 차별점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C51C42-1EA8-414E-9FE6-E2BBCDC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기능 나열보다 평가 가능성과 실패 대응이 차별점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E7D3543-01D5-4240-86B2-7E40F0AE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DE60AB3-A223-4414-B1C8-9E91DBF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11BC8B-946A-4C81-A13C-4624CC4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C9419D-DC1C-40F5-8C24-BAC39DE5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28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포트폴리오 맥락: 보유 종목·현금 비중·투자성향을 함께 해석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B6B67DD-A11E-4F59-951C-C162001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0A3EA2C9-9EB9-4889-A5D8-4539D5B3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DA1E7C-99BD-4CF5-94C8-F43623F9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40B5326-B1A5-43C1-AEC1-55E801DB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955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도구와 LLM 분리: 숫자 계산은 Tool, 설명과 합성은 LLM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C7DA31E3-CC7B-48C8-8554-FAAA9FB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5236A95-C12C-478A-85AF-F076163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A6BEA7C-252B-4FC2-8B1D-2A0A150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BF6103-E493-44B9-8806-08D815F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622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Agent별 실패 격리: 부분 실패를 warning과 fallback으로 흡수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9534B2AD-884D-4202-B1B2-996F01B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A6944438-9181-4A28-ADE2-AF33C0AB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98785A-77AA-41CB-B77F-D92D8520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957480-E823-4C5C-A84A-01A0050D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290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검색 근거 중심: 뉴스·공시를 RAG evidence로 변환해 출처 없는 요약을 줄임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940DF5C1-9492-4AB3-816F-63E56924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ACCA96DE-F4EA-4C53-B7A6-1271BD8D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FEDB517-AA2A-464D-9633-21E4FFE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B0A78B3-19E1-419E-85E1-C3DDF57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금융 안전장치: Guardrail과 재합성 루프로 위험 표현을 완화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DAEBD8C0-A153-49FB-91E7-B094ED0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A7A1FDC-7D64-4D71-8727-BCAD97F5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F4C1518-FB6A-4AC6-AB99-41C3B44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우리는 추천 엔진을 만든 것이 아니라, 개인투자자의 판단 근거를 구조화하는 분석 보조 시스템을 만들었다.</a:t>
            </a:r>
          </a:p>
        </p:txBody>
      </p:sp>
    </p:spTree>
    <p:extLst>
      <p:ext uri="{BB962C8B-B14F-4D97-AF65-F5344CB8AC3E}">
        <p14:creationId xmlns:p14="http://schemas.microsoft.com/office/powerpoint/2010/main" val="17502499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E59F5E94-36F1-47BC-BA22-188AE6A3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405BA77F-9CF9-4DF8-9DED-9ACEFFB6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8B58F5C-396F-4237-961F-58C327FE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E2043F-58CD-49B8-965C-CBD6D90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442A26-CBB6-4A0C-BC50-A604F1EB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상업성: 개인투자자용 PB-lite 분석 보조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8E2D66-EAF7-4DAE-A0F9-B8389F4D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추천 서비스가 아니라 설명 가능한 분석 보조 모듈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7A261B0-96C1-47D2-974F-8FE02150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ACFE6F5-5A75-439A-A67A-8FBF6AC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383813-60D3-4D83-B1F3-8A1A293E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B0F9F3-E129-4AF6-BDD8-BDBBCF2F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28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B2C: 개인투자자의 보유 종목 점검과 정기 리포트 생성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99D7F970-D96D-463D-BDB7-7A5C1AC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4376F4D-382F-4500-8BCE-ABBC7C66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696D03-6BE2-48A4-B049-68330C6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0870125-9866-4575-B15C-2C09E8F6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955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B2B: 증권·핀테크 앱에 설명형 AI 분석 모듈로 탑재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CD9573B0-AE5D-45E6-8479-31BFC97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3E90F914-F128-4F43-BA34-991C3A5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DDAF03B-A250-4DAF-BCF8-7F3F5B1E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2B1179-0E4B-47F6-A5FE-9E60E9E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622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교육: 투자 판단 과정을 설명하는 실습형 튜터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770065E6-9F65-436A-8820-57D135B5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01AAA74-BFBD-4E3A-869D-C61AC741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3EA028F-4775-4C36-9555-7F5C1A8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327B796-56CF-4617-A919-160680FB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290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리서치 보조: 뉴스·공시·peer 요약 자동화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BD0B78ED-61A2-407B-991E-0E345C5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41CB2E67-4A4C-4D8C-BAE3-066060EC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50FD69-118F-461B-854D-388BBD75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9CACC17-A5BF-44F1-8E1E-46771F0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수익화: 프리미엄 리포트, 포트폴리오 모니터링, API 모듈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8A1A729F-6E2F-441E-94EA-8929E11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D6F624F-FAC6-45F0-AD34-A325F40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6BE3B06-89BB-4137-8AE2-5D3490B9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규제 리스크를 줄이기 위해 자동매매나 확정 추천이 아니라 설명 가능한 분석 보조로 포지셔닝한다.</a:t>
            </a:r>
          </a:p>
        </p:txBody>
      </p:sp>
    </p:spTree>
    <p:extLst>
      <p:ext uri="{BB962C8B-B14F-4D97-AF65-F5344CB8AC3E}">
        <p14:creationId xmlns:p14="http://schemas.microsoft.com/office/powerpoint/2010/main" val="3503402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120F4DE-EDEC-42CB-8E5C-018DCE8E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A7E9C73-BCF4-4974-B9A9-9A65C277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DE7C95D-52A5-4142-9A96-4A04C184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5177C1-0453-4C74-8177-45AB66BC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1F06F4-1D94-4A7E-B016-1D3CC67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한계와 결론: 더 정확한 근거 연결이 다음 단계다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48C460-3F2F-4B01-BEDF-5EDC720D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한계를 숨기지 않고 다음 개선 방향과 최종 메시지로 연결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F6EDBC2-C61A-4FDB-A65E-C20E53CE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9A6537E-45AA-4749-A5A6-FB5D5C8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1DCDCD-ECC9-4D39-B5DC-2C6D13C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0CAE40-95C4-4FF7-A3A5-A66B546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4307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근거 품질: RAG 인용 스팬, context gating, reranker 운영 기준 고도화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5D703892-5DBF-4178-8C9E-943F013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8115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82D688D-A262-4F81-81EB-A102A4F5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A6116C-12B2-4D3C-ADFA-44AD5DA4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AD39237-8559-4F3E-87A3-D6F40B82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4307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데이터 영속화: users·holdings·analysis_cache 테이블과 이력 관리 필요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339C9CFC-9777-4528-9285-789D9B9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B4D6677-3FC6-4CE2-BEB9-89CF6A59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0F8D7C3-E703-431F-964B-321981E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D1098C-5164-451E-9786-FBF879B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커버리지: 실데이터 종목 범위와 뉴스/공시 수집 안정성 확대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79B53405-A36B-4D4F-96AC-249C228F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71CC965-F555-4DB9-94B8-6D25D347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67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43FE3A7-19FF-421D-B07B-D53DDBC1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24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53C42C2-0F16-4916-A2BE-25FDDD7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5752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제품화: PB 리포트 PDF/Excel, 알림, 운영 비용 제어 필요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FC36312A-0F20-46CD-B317-8B2BE18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02C86A8-9193-403B-AF2B-4D6B5450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244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5252CDD-C91E-4B75-9CB4-3DBB1281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8637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stock-agent는 투자 판단을 자동화한 것이 아니라, 판단에 필요한 근거를 Agent 구조로 분해하고 다시 합성했다.</a:t>
            </a:r>
          </a:p>
        </p:txBody>
      </p:sp>
    </p:spTree>
    <p:extLst>
      <p:ext uri="{BB962C8B-B14F-4D97-AF65-F5344CB8AC3E}">
        <p14:creationId xmlns:p14="http://schemas.microsoft.com/office/powerpoint/2010/main" val="1267016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2026-06-25T09:20:08.5230000Z</dcterms:created>
  <dcterms:modified xsi:type="dcterms:W3CDTF">2026-06-25T09:20:08.5230000Z</dcterms:modified>
</coreProperties>
</file>