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94bdf2ef0b4c03" /><Relationship Type="http://schemas.openxmlformats.org/officeDocument/2006/relationships/extended-properties" Target="/docProps/app.xml" Id="R4aaa4cbc08a94ede" /><Relationship Type="http://schemas.openxmlformats.org/officeDocument/2006/relationships/officeDocument" Target="/ppt/presentation.xml" Id="Re3e23bb3243f42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062ca42e0e4bf7"/>
  </p:sldMasterIdLst>
  <p:notesMasterIdLst>
    <p:notesMasterId xmlns:r="http://schemas.openxmlformats.org/officeDocument/2006/relationships" r:id="R608b627cc06b4f9c"/>
  </p:notesMasterIdLst>
  <p:sldIdLst>
    <p:sldId xmlns:r="http://schemas.openxmlformats.org/officeDocument/2006/relationships" id="256" r:id="R75899f0b75f14bb6"/>
    <p:sldId xmlns:r="http://schemas.openxmlformats.org/officeDocument/2006/relationships" id="257" r:id="Re90ae508883f429a"/>
    <p:sldId xmlns:r="http://schemas.openxmlformats.org/officeDocument/2006/relationships" id="258" r:id="R88bda0c673c14041"/>
    <p:sldId xmlns:r="http://schemas.openxmlformats.org/officeDocument/2006/relationships" id="259" r:id="Ra85c71c3473b4bea"/>
    <p:sldId xmlns:r="http://schemas.openxmlformats.org/officeDocument/2006/relationships" id="260" r:id="Reb0cd2a788224a86"/>
    <p:sldId xmlns:r="http://schemas.openxmlformats.org/officeDocument/2006/relationships" id="261" r:id="R54e7e6bc666a43f6"/>
    <p:sldId xmlns:r="http://schemas.openxmlformats.org/officeDocument/2006/relationships" id="262" r:id="R905b9d80ba984aa0"/>
    <p:sldId xmlns:r="http://schemas.openxmlformats.org/officeDocument/2006/relationships" id="263" r:id="R46c87eb52bb04e5a"/>
    <p:sldId xmlns:r="http://schemas.openxmlformats.org/officeDocument/2006/relationships" id="264" r:id="Rc49a6a2a3675446b"/>
    <p:sldId xmlns:r="http://schemas.openxmlformats.org/officeDocument/2006/relationships" id="265" r:id="Rde5d057a01aa4392"/>
    <p:sldId xmlns:r="http://schemas.openxmlformats.org/officeDocument/2006/relationships" id="266" r:id="R96b59474e4c2402c"/>
    <p:sldId xmlns:r="http://schemas.openxmlformats.org/officeDocument/2006/relationships" id="267" r:id="R524aeb89e1f54037"/>
    <p:sldId xmlns:r="http://schemas.openxmlformats.org/officeDocument/2006/relationships" id="268" r:id="R7276415d5b3e4377"/>
    <p:sldId xmlns:r="http://schemas.openxmlformats.org/officeDocument/2006/relationships" id="269" r:id="R4aeb5168d40c40f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b1485687fe4c98" /><Relationship Type="http://schemas.openxmlformats.org/officeDocument/2006/relationships/slideMaster" Target="/ppt/slideMasters/slideMaster1.xml" Id="R8f062ca42e0e4bf7" /><Relationship Type="http://schemas.openxmlformats.org/officeDocument/2006/relationships/notesMaster" Target="/ppt/notesMasters/notesMaster1.xml" Id="R608b627cc06b4f9c" /><Relationship Type="http://schemas.openxmlformats.org/officeDocument/2006/relationships/presProps" Target="/ppt/presProps.xml" Id="R05e5ac6aeb944df2" /><Relationship Type="http://schemas.openxmlformats.org/officeDocument/2006/relationships/tableStyles" Target="/ppt/tableStyles.xml" Id="R9389e087aad94a1f" /><Relationship Type="http://schemas.openxmlformats.org/officeDocument/2006/relationships/slide" Target="/ppt/slides/slide1.xml" Id="R75899f0b75f14bb6" /><Relationship Type="http://schemas.openxmlformats.org/officeDocument/2006/relationships/slide" Target="/ppt/slides/slide2.xml" Id="Re90ae508883f429a" /><Relationship Type="http://schemas.openxmlformats.org/officeDocument/2006/relationships/slide" Target="/ppt/slides/slide3.xml" Id="R88bda0c673c14041" /><Relationship Type="http://schemas.openxmlformats.org/officeDocument/2006/relationships/slide" Target="/ppt/slides/slide4.xml" Id="Ra85c71c3473b4bea" /><Relationship Type="http://schemas.openxmlformats.org/officeDocument/2006/relationships/slide" Target="/ppt/slides/slide5.xml" Id="Reb0cd2a788224a86" /><Relationship Type="http://schemas.openxmlformats.org/officeDocument/2006/relationships/slide" Target="/ppt/slides/slide6.xml" Id="R54e7e6bc666a43f6" /><Relationship Type="http://schemas.openxmlformats.org/officeDocument/2006/relationships/slide" Target="/ppt/slides/slide7.xml" Id="R905b9d80ba984aa0" /><Relationship Type="http://schemas.openxmlformats.org/officeDocument/2006/relationships/slide" Target="/ppt/slides/slide8.xml" Id="R46c87eb52bb04e5a" /><Relationship Type="http://schemas.openxmlformats.org/officeDocument/2006/relationships/slide" Target="/ppt/slides/slide9.xml" Id="Rc49a6a2a3675446b" /><Relationship Type="http://schemas.openxmlformats.org/officeDocument/2006/relationships/slide" Target="/ppt/slides/slide10.xml" Id="Rde5d057a01aa4392" /><Relationship Type="http://schemas.openxmlformats.org/officeDocument/2006/relationships/slide" Target="/ppt/slides/slide11.xml" Id="R96b59474e4c2402c" /><Relationship Type="http://schemas.openxmlformats.org/officeDocument/2006/relationships/slide" Target="/ppt/slides/slide12.xml" Id="R524aeb89e1f54037" /><Relationship Type="http://schemas.openxmlformats.org/officeDocument/2006/relationships/slide" Target="/ppt/slides/slide13.xml" Id="R7276415d5b3e4377" /><Relationship Type="http://schemas.openxmlformats.org/officeDocument/2006/relationships/slide" Target="/ppt/slides/slide14.xml" Id="R4aeb5168d40c40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73254baeab43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bda964cef148eb" /><Relationship Type="http://schemas.openxmlformats.org/officeDocument/2006/relationships/notesMaster" Target="/ppt/notesMasters/notesMaster1.xml" Id="R867abe4152624c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48b3631cba423f" /><Relationship Type="http://schemas.openxmlformats.org/officeDocument/2006/relationships/notesMaster" Target="/ppt/notesMasters/notesMaster1.xml" Id="Rc722ceecadf142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d4eb7bb01c4f85" /><Relationship Type="http://schemas.openxmlformats.org/officeDocument/2006/relationships/notesMaster" Target="/ppt/notesMasters/notesMaster1.xml" Id="Rcdd13d782fba41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7a75885235433c" /><Relationship Type="http://schemas.openxmlformats.org/officeDocument/2006/relationships/notesMaster" Target="/ppt/notesMasters/notesMaster1.xml" Id="R34005576392f40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93d8c6dbea4a6d" /><Relationship Type="http://schemas.openxmlformats.org/officeDocument/2006/relationships/notesMaster" Target="/ppt/notesMasters/notesMaster1.xml" Id="R98555e5b1fe64e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d8967027bc46fd" /><Relationship Type="http://schemas.openxmlformats.org/officeDocument/2006/relationships/notesMaster" Target="/ppt/notesMasters/notesMaster1.xml" Id="R5fb6da7b0b6c40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a0c3cd962b4f32" /><Relationship Type="http://schemas.openxmlformats.org/officeDocument/2006/relationships/notesMaster" Target="/ppt/notesMasters/notesMaster1.xml" Id="R6de6ba2f986942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b106d6237d4251" /><Relationship Type="http://schemas.openxmlformats.org/officeDocument/2006/relationships/notesMaster" Target="/ppt/notesMasters/notesMaster1.xml" Id="R9c1b556659694b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ba255c66384d07" /><Relationship Type="http://schemas.openxmlformats.org/officeDocument/2006/relationships/notesMaster" Target="/ppt/notesMasters/notesMaster1.xml" Id="R892536df107b48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db7d322fe242a8" /><Relationship Type="http://schemas.openxmlformats.org/officeDocument/2006/relationships/notesMaster" Target="/ppt/notesMasters/notesMaster1.xml" Id="R45f318787e4f4e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d2d7e7bf7d40e2" /><Relationship Type="http://schemas.openxmlformats.org/officeDocument/2006/relationships/notesMaster" Target="/ppt/notesMasters/notesMaster1.xml" Id="Rcad2c2cc713741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f18cb50d1f436a" /><Relationship Type="http://schemas.openxmlformats.org/officeDocument/2006/relationships/notesMaster" Target="/ppt/notesMasters/notesMaster1.xml" Id="Rddba49e2463949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9aa38ace0e40d7" /><Relationship Type="http://schemas.openxmlformats.org/officeDocument/2006/relationships/notesMaster" Target="/ppt/notesMasters/notesMaster1.xml" Id="R8ccf43ea39374d8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c3a08070bc246ae" /><Relationship Type="http://schemas.openxmlformats.org/officeDocument/2006/relationships/notesMaster" Target="/ppt/notesMasters/notesMaster1.xml" Id="Rf3e21188cda444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문장은 투자 판단 자동화가 아니라 분석 신호를 구조화하는 시스템이라고 못 박는다.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출처는 발표 본문에 크게 노출하지 않고 Q&amp;A 대응용으로만 기억한다.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-16.77%는 공식통계가 아니라 NH투자증권·머니투데이 표본 분석임을 질문 시 명확히 말한다.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stock-agent는 제안이 아니라 현재 구현한 MVP라는 표현을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악마의 대변인이라는 표현 대신 Guardrail과 전문 Agent 관점 분리라고 말한다.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라이브 데모가 실패해도 이 슬라이드가 데모 대체 역할을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7장은 레이어, 8장은 11노드 흐름으로 나누어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기준 문서는 docs/architecture/pipeline_11node_groundtruth.md다.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구현된 사실만 말한다. Quant·Qual의 프롬프트는 있지만 일부 LLM 연결은 제한적이라고 질문 시 답한다.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좋은 점만 말하지 않고 솔직한 평가 공개를 차별점으로 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D→C→B 개선 서사를 20초 안에만 언급한다.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규제 리스크 때문에 자동매매나 확정 추천이 아니라 분석 보조로 포지셔닝한다.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한계를 숨기지 않고 다음 스프린트 작업으로 연결한다.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문장은 또박또박 말하고 Q&amp;A로 넘긴다.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b655fd2d7740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12577019064329" /><Relationship Type="http://schemas.openxmlformats.org/officeDocument/2006/relationships/slideLayout" Target="/ppt/slideLayouts/slideLayout1.xml" Id="Raebe052f2b454c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be052f2b454c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2ec58d2734d0d" /><Relationship Type="http://schemas.openxmlformats.org/officeDocument/2006/relationships/image" Target="/ppt/media/image.png" Id="R2c99ef9d79a642b4" /><Relationship Type="http://schemas.openxmlformats.org/officeDocument/2006/relationships/notesSlide" Target="/ppt/notesSlides/notesSlide1.xml" Id="R7944ebc69f5f44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635f475644c12" /><Relationship Type="http://schemas.openxmlformats.org/officeDocument/2006/relationships/notesSlide" Target="/ppt/notesSlides/notesSlide2.xml" Id="Rf2c745baf7994c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70d956c1b400e" /><Relationship Type="http://schemas.openxmlformats.org/officeDocument/2006/relationships/notesSlide" Target="/ppt/notesSlides/notesSlide3.xml" Id="R482826d3159447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bb7c181134672" /><Relationship Type="http://schemas.openxmlformats.org/officeDocument/2006/relationships/notesSlide" Target="/ppt/notesSlides/notesSlide4.xml" Id="R618577a7098f45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ca8f7a5ac4c9a" /><Relationship Type="http://schemas.openxmlformats.org/officeDocument/2006/relationships/notesSlide" Target="/ppt/notesSlides/notesSlide5.xml" Id="R93e13ce6259243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fcafb3edd4523" /><Relationship Type="http://schemas.openxmlformats.org/officeDocument/2006/relationships/image" Target="/ppt/media/image.jpeg" Id="R9c0d634d05bc4f23" /><Relationship Type="http://schemas.openxmlformats.org/officeDocument/2006/relationships/image" Target="/ppt/media/image2.jpeg" Id="Re8a956169d0b40ba" /><Relationship Type="http://schemas.openxmlformats.org/officeDocument/2006/relationships/notesSlide" Target="/ppt/notesSlides/notesSlide6.xml" Id="R2ca24b95509d4a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7930bd3734543" /><Relationship Type="http://schemas.openxmlformats.org/officeDocument/2006/relationships/image" Target="/ppt/media/image2.png" Id="Rc216153f68654171" /><Relationship Type="http://schemas.openxmlformats.org/officeDocument/2006/relationships/notesSlide" Target="/ppt/notesSlides/notesSlide7.xml" Id="Rddc7164f6d2843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1fc44ccaa438e" /><Relationship Type="http://schemas.openxmlformats.org/officeDocument/2006/relationships/notesSlide" Target="/ppt/notesSlides/notesSlide8.xml" Id="Ra258ddf988984d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54480266f481d" /><Relationship Type="http://schemas.openxmlformats.org/officeDocument/2006/relationships/notesSlide" Target="/ppt/notesSlides/notesSlide9.xml" Id="R9c1212dde80448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203021ddc4c05" /><Relationship Type="http://schemas.openxmlformats.org/officeDocument/2006/relationships/notesSlide" Target="/ppt/notesSlides/notesSlide10.xml" Id="Rb8c9ff97913f48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951a1d59f4635" /><Relationship Type="http://schemas.openxmlformats.org/officeDocument/2006/relationships/notesSlide" Target="/ppt/notesSlides/notesSlide11.xml" Id="Rc01a65ef104d43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561f0034b4db9" /><Relationship Type="http://schemas.openxmlformats.org/officeDocument/2006/relationships/notesSlide" Target="/ppt/notesSlides/notesSlide12.xml" Id="Rc94a1b53a3b84f4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f4d9a19ef4f02" /><Relationship Type="http://schemas.openxmlformats.org/officeDocument/2006/relationships/notesSlide" Target="/ppt/notesSlides/notesSlide13.xml" Id="R6123fbe41d3a4dc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2674562004742" /><Relationship Type="http://schemas.openxmlformats.org/officeDocument/2006/relationships/notesSlide" Target="/ppt/notesSlides/notesSlide14.xml" Id="R16473b42d7e94d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eft-band">
            <a:extLst xmlns:a="http://schemas.openxmlformats.org/drawingml/2006/main">
              <a:ext uri="{FF2B5EF4-FFF2-40B4-BE49-F238E27FC236}">
                <a16:creationId xmlns:a16="http://schemas.microsoft.com/office/drawing/2014/main" id="{B2EBE644-3019-48AE-863C-3A1C557B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surface">
            <a:extLst xmlns:a="http://schemas.openxmlformats.org/drawingml/2006/main">
              <a:ext uri="{FF2B5EF4-FFF2-40B4-BE49-F238E27FC236}">
                <a16:creationId xmlns:a16="http://schemas.microsoft.com/office/drawing/2014/main" id="{E2876E39-6EB7-427F-822E-F8019A0F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4574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 final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48F61DA-74D7-4BD7-AE4D-35648EE0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4953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52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94369F3-505B-45FB-945F-C2540967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5143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2100">
                <a:solidFill>
                  <a:srgbClr val="D8E5F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>
                <a:solidFill>
                  <a:srgbClr val="D8E5F7"/>
                </a:solidFill>
                <a:latin typeface="Malgun Gothic"/>
                <a:ea typeface="Malgun Gothic"/>
                <a:cs typeface="Malgun Gothic"/>
              </a:rPr>
              <a:t>개인투자자의 의사결정을 구조화하는 멀티에이전트 분석 보조 시스템</a:t>
            </a:r>
          </a:p>
        </p:txBody>
      </p:sp>
      <p:sp>
        <p:nvSpPr>
          <p:cNvPr id="5" name="surface">
            <a:extLst xmlns:a="http://schemas.openxmlformats.org/drawingml/2006/main">
              <a:ext uri="{FF2B5EF4-FFF2-40B4-BE49-F238E27FC236}">
                <a16:creationId xmlns:a16="http://schemas.microsoft.com/office/drawing/2014/main" id="{9BFDC5F8-F859-47D0-BDE9-E5D13566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CA76EB4-50CE-46C6-85A0-0BA1F2C9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4807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투자성향과 보유 포트폴리오를 함께 반영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A44A67B3-2AE8-4BF3-9115-E28B2CD9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FFD629A-E3CF-4D6F-95A9-813AB1A1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6242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정량·정성·Peer·거시 데이터를 Agent가 분리 분석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11190343-649D-4F8B-A11D-E88FB5BD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285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8A7C8D5-1FAA-41FC-A85C-68020F2E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76775"/>
            <a:ext cx="4686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 권유가 아닌 근거 기반 분석 신호 제공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95EA180-3724-4003-9190-58AF5C2E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6265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2026-06-27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9ef9d79a642b4"/>
          <a:srcRect xmlns:a="http://schemas.openxmlformats.org/drawingml/2006/main" l="24803" t="0" r="2480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514350"/>
            <a:ext cx="5219700" cy="5829300"/>
          </a:xfrm>
          <a:prstGeom xmlns:a="http://schemas.openxmlformats.org/drawingml/2006/main" prst="roundRect">
            <a:avLst>
              <a:gd name="adj" fmla="val 4380"/>
            </a:avLst>
          </a:prstGeom>
        </p:spPr>
      </p:pic>
    </p:spTree>
    <p:extLst>
      <p:ext uri="{BB962C8B-B14F-4D97-AF65-F5344CB8AC3E}">
        <p14:creationId xmlns:p14="http://schemas.microsoft.com/office/powerpoint/2010/main" val="6819213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184725BE-A2F0-4315-B067-36B6D46A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7918E820-039B-4823-8F52-A6CF2E08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409988CC-233E-4E89-AFA0-2C7D893E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C4814E1-0F4D-43FA-90CD-9E73C7E9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E2BF980-6451-40E3-87F4-0E064665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Why Now: 개인투자 시장은 커졌지만 판단 부담도 커졌다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2BB675B-235F-414B-B2F3-F4E470F8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시장 확대와 판단 복잡도 상승을 한 장에 압축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C5A743E8-DA84-4B8B-A9EF-EC406812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1635B6FF-7D16-488E-8767-EA38D23C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8D5A009-5E3E-427A-9D0C-370924FD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개인투자자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DAA681C-835C-4A39-ABDD-576645FC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1,442만 명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6C8C27A-14C0-493C-9B73-6C97E5E9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2025년 말 개인 기준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6E751749-81F2-451A-916F-C441998E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13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7A18161F-BFC4-4E9F-B74C-1AB7AA81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268A751-BF6F-419A-B143-D55D98AF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주식거래 활동계좌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9A13B79-93F5-4161-A9E9-3ED976ED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28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1억 500만 개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31B1CB9-BB3A-41B9-A287-15A75BA0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2026.04.29 금융투자협회</a:t>
            </a:r>
          </a:p>
        </p:txBody>
      </p:sp>
      <p:sp>
        <p:nvSpPr>
          <p:cNvPr id="17" name="surface">
            <a:extLst xmlns:a="http://schemas.openxmlformats.org/drawingml/2006/main">
              <a:ext uri="{FF2B5EF4-FFF2-40B4-BE49-F238E27FC236}">
                <a16:creationId xmlns:a16="http://schemas.microsoft.com/office/drawing/2014/main" id="{2967F09F-BB96-4F78-9168-67BD41B4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76400"/>
            <a:ext cx="3479800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1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672FAC5B-D4C0-4648-92A0-9BF19071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1676400"/>
            <a:ext cx="34798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04DC286-3B64-44F4-B51C-57CC1433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1905000"/>
            <a:ext cx="302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개인 MTS 거래 비중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5A109FB6-6F16-4222-979B-76A1B245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305050"/>
            <a:ext cx="302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65.7%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4DECE6B-0D90-4C72-98D0-1D9F2EA2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2933700"/>
            <a:ext cx="302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2026년 1~5월 한국거래소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FD93761E-9D61-4303-9267-584C1549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3D6ECA67-58B1-453B-824C-F22B2F6A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101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F74782CA-675D-4E80-9F2D-1D00D84A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720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투자는 대중화되었지만, 판단은 더 빠르고 복잡한 모바일 환경으로 이동했다.</a:t>
            </a:r>
          </a:p>
        </p:txBody>
      </p:sp>
    </p:spTree>
    <p:extLst>
      <p:ext uri="{BB962C8B-B14F-4D97-AF65-F5344CB8AC3E}">
        <p14:creationId xmlns:p14="http://schemas.microsoft.com/office/powerpoint/2010/main" val="8106723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A1F9E1BC-4DDB-4387-B4DA-6CB6B4F9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B153005E-EBE5-49DF-BD30-2F392A61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C3389C62-D4B7-4B5B-9012-9BC7BC0A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2FCD8D6-B797-4434-BBF7-58CDFBD0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4758FAF-B025-468B-BBF0-BF0E976D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문제: 정보는 많지만 근거 있는 통합 판단은 어렵다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CFB12C1-2382-4D28-BC6A-2F3F15AC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정보 과잉, 모바일 즉시성, 낮은 맥락화가 함께 만든 의사결정 공백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1927C26B-6545-4AD9-9CD3-7921BC64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026FFC05-3951-4678-B157-3B3D0D01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AD3FB30-82D6-43FB-B2CB-5D238E5B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573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F7E45B9-D686-482F-BABD-A8B6571E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7526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1~3종목 집중투자 비중 59.7%: 포트폴리오 리스크가 개인에게 집중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D4BD6388-60F8-4086-A18B-9D3BA2B3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DFCC3039-CF5D-48C6-A0D0-B1880B7D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5F9D5D4-968B-430A-87F9-341FB2D4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41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C169AEF-A583-49DA-8018-DA18636F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8194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디지털 금융이해력 59.3점: 모바일 금융 사용은 보편화됐지만 이해도는 부족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F29A1463-B2F5-4A6C-8DA8-4958817D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838200"/>
          </a:xfrm>
          <a:prstGeom xmlns:a="http://schemas.openxmlformats.org/drawingml/2006/main" prst="roundRect">
            <a:avLst>
              <a:gd name="adj" fmla="val 20455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848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92401AB0-CB9A-4BC7-B1DD-F6D7F68E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43815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E715FBF-4DF1-409B-B5DE-C3987BC6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A97531A-71C7-49BE-A22B-6B3EEE8B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862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2024년 개인 평균 수익률 -16.77%: 표본 분석 기준 시장 대비 부진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587393E5-0F8C-4CC2-927C-A504F39C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EEB35AC9-DFD5-40B9-BD81-00BD8DF6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054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D9C8E3D2-8D0C-4EED-B2A0-F2B013F9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673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핵심 문제는 정보 부족이 아니라, 흩어진 정보를 내 포트폴리오 맥락에서 해석하는 능력의 부족이다.</a:t>
            </a:r>
          </a:p>
        </p:txBody>
      </p:sp>
    </p:spTree>
    <p:extLst>
      <p:ext uri="{BB962C8B-B14F-4D97-AF65-F5344CB8AC3E}">
        <p14:creationId xmlns:p14="http://schemas.microsoft.com/office/powerpoint/2010/main" val="4227340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D6891007-B666-4C45-A8C7-D47C486B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6824FEC1-1823-4A47-9100-6BD460F9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25B463CE-B475-42CC-93BA-29548F86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57F8FFF-B6F9-43BD-9DAF-2E7E0D3C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91C2F77E-75F0-4D3B-9662-FB34640D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기존 대안은 한 가지 축만 해결한다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2EDF857-2A1A-43AC-8F91-4F499441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각 대안은 강점이 있지만 세 공백을 동시에 닫지는 못함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85800" y="1562100"/>
          <a:ext xmlns:a="http://schemas.openxmlformats.org/drawingml/2006/main" cx="108204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5450"/>
                <a:gridCol w="1352550"/>
                <a:gridCol w="1352550"/>
                <a:gridCol w="1352550"/>
                <a:gridCol w="5067300"/>
              </a:tblGrid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대안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포트폴리오 맥락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멀티 관점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안전 검증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91440" marR="91440" marT="45720" marB="45720">
                    <a:solidFill>
                      <a:srgbClr val="10233B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증권사 MTS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정보는 많지만 종합 판단은 사용자 몫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로보어드바이저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자산배분 중심, 개별 종목 근거 설명 약함</a:t>
                      </a:r>
                    </a:p>
                  </a:txBody>
                  <a:tcPr marL="91440" marR="91440" marT="45720" marB="45720">
                    <a:solidFill>
                      <a:srgbClr val="16243A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범용 LLM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×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×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실시간 데이터·출처·환각 통제 한계</a:t>
                      </a:r>
                    </a:p>
                  </a:txBody>
                  <a:tcPr marL="91440" marR="91440" marT="45720" marB="45720">
                    <a:solidFill>
                      <a:srgbClr val="0F1B2E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stock-agent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포트폴리오 맥락에서 Agent별 근거를 합성</a:t>
                      </a:r>
                    </a:p>
                  </a:txBody>
                  <a:tcPr marL="91440" marR="91440" marT="45720" marB="45720">
                    <a:solidFill>
                      <a:srgbClr val="0B2A35"/>
                    </a:solidFill>
                  </a:tcPr>
                </a:tc>
              </a:tr>
            </a:tbl>
          </a:graphicData>
        </a:graphic>
      </p:graphicFrame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057324BD-1C76-45EC-B58F-58319C14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5B27F68-C3D8-42B0-AF03-3C652426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292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8D4777C-99F8-427C-9BC8-5D02DCC3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911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시장 공백은 내 보유 종목 기준으로 여러 근거를 검증해주는 분석 보조다.</a:t>
            </a:r>
          </a:p>
        </p:txBody>
      </p:sp>
    </p:spTree>
    <p:extLst>
      <p:ext uri="{BB962C8B-B14F-4D97-AF65-F5344CB8AC3E}">
        <p14:creationId xmlns:p14="http://schemas.microsoft.com/office/powerpoint/2010/main" val="18753970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60DF4AAA-BED8-4C81-B940-2128158C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ECFC7C03-AA3A-4F7A-AFC5-3540F60B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BDBFE757-79BF-4C4B-A4EB-3A12B88E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194217E-4D96-4060-87F5-EF8D4223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B6A6BEF-899C-40F3-8393-849A314D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왜 멀티 Agent인가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4463F31-B12E-4445-9E4C-4B879C1A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LLM 하나가 아니라 역할 분리, 근거 통합, 안전검증을 분리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DBDCFD60-B782-486A-91DC-5E603700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259C3D9D-6A3F-4763-92E5-DA953FD8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078B4C6-75F6-4DB8-B26F-C4C04710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C3FC4E2-A583-4D96-B34C-83D828F6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4307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정량 Agent: DART·시세 기반 재무/밸류에이션 지표 계산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FB10DB83-CF12-4294-97A9-43034B29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8115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FFF9E32A-3386-4AC3-A37C-4D0DBA8A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0EC87AF-392D-4345-8C3E-8BE9D0D7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716964E-AF92-4BB3-9E9B-F5FD8CFC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4307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정성 Agent: 뉴스·공시 RAG로 호재/악재 근거 탐색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C5CEAE50-2502-40AF-9F3B-D3992D95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98AE71F9-A90F-4183-81AA-47F22C7F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7ACC28E0-AA94-46E0-B322-3C822276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843B9FD5-01BB-4142-973A-3EC06992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7182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Peer·Macro Agent: 같은 업종 비교와 거시 환경 보완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E64A4722-4C7B-4DD0-BFF3-DD618DF4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00990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B187D906-6E19-406E-84B6-CF185889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1813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F6113AA-18BF-417A-8EA6-2A0DDA0C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385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3BEC463B-01FB-4EA3-8C41-CD88DEAB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17182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Guardrail: 투자 권유·위험 표현을 규칙 기반으로 완화</a:t>
            </a:r>
          </a:p>
        </p:txBody>
      </p:sp>
      <p:sp>
        <p:nvSpPr>
          <p:cNvPr id="23" name="surface">
            <a:extLst xmlns:a="http://schemas.openxmlformats.org/drawingml/2006/main">
              <a:ext uri="{FF2B5EF4-FFF2-40B4-BE49-F238E27FC236}">
                <a16:creationId xmlns:a16="http://schemas.microsoft.com/office/drawing/2014/main" id="{B61BA282-C462-4E69-B1BA-E6188028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1A974E9D-59C1-4BDC-A754-DA841D9B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625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105056DF-D9B7-4632-8247-BE4CC983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244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 모델이 모든 판단을 말하는 구조보다, 역할을 나눠 계산·검색·합성·검증을 분리하는 구조가 더 설명 가능하다.</a:t>
            </a:r>
          </a:p>
        </p:txBody>
      </p:sp>
    </p:spTree>
    <p:extLst>
      <p:ext uri="{BB962C8B-B14F-4D97-AF65-F5344CB8AC3E}">
        <p14:creationId xmlns:p14="http://schemas.microsoft.com/office/powerpoint/2010/main" val="1901329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73BB457-10AF-423B-BAE4-1F2A11ED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AF014DB4-F844-4BB3-8459-337804BB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8BA716EB-6143-4011-9949-8035F0EA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F2924B0-4734-43CB-ADDE-B4ACB9BD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1A0E8BC-A95F-49F0-AFD5-782C672C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사용 흐름: 7단계 성향 입력에서 Tier 결과까지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A77F826-501C-476C-8E41-D4E7B93A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입력부터 결과까지 발표 중 바로 보여줄 수 있는 사용자 여정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2DA79214-F398-4970-9203-6B029049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401955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1. 투자 목적·기간·손실 감내 등 7단계 성향 수집</a:t>
            </a:r>
          </a:p>
        </p:txBody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AB1D70BD-6E82-49CB-8FC1-AF67F4DE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01955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2. 보유 종목·평단·현금 비중 입력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63A7F01B-CFE6-4F4A-BA55-04249A10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401955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3. Agent 진행 상태를 실시간으로 확인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B4EC9D2F-41A0-4D88-9DEA-77759466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01955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4. HOLD/신뢰도/포트폴리오 적합도와 근거 확인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d634d05bc4f23"/>
          <a:stretch xmlns:a="http://schemas.openxmlformats.org/drawingml/2006/main"/>
        </p:blipFill>
        <p:spPr>
          <a:xfrm xmlns:a="http://schemas.openxmlformats.org/drawingml/2006/main">
            <a:off x="5010150" y="2400300"/>
            <a:ext cx="3048000" cy="1714500"/>
          </a:xfrm>
          <a:prstGeom xmlns:a="http://schemas.openxmlformats.org/drawingml/2006/main" prst="roundRect">
            <a:avLst>
              <a:gd name="adj" fmla="val 5625"/>
            </a:avLst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956169d0b40ba"/>
          <a:stretch xmlns:a="http://schemas.openxmlformats.org/drawingml/2006/main"/>
        </p:blipFill>
        <p:spPr>
          <a:xfrm xmlns:a="http://schemas.openxmlformats.org/drawingml/2006/main">
            <a:off x="8267700" y="2346722"/>
            <a:ext cx="3238500" cy="1821656"/>
          </a:xfrm>
          <a:prstGeom xmlns:a="http://schemas.openxmlformats.org/drawingml/2006/main" prst="roundRect">
            <a:avLst>
              <a:gd name="adj" fmla="val 5294"/>
            </a:avLst>
          </a:prstGeom>
        </p:spPr>
      </p:pic>
      <p:sp>
        <p:nvSpPr>
          <p:cNvPr id="13" name="surface">
            <a:extLst xmlns:a="http://schemas.openxmlformats.org/drawingml/2006/main">
              <a:ext uri="{FF2B5EF4-FFF2-40B4-BE49-F238E27FC236}">
                <a16:creationId xmlns:a16="http://schemas.microsoft.com/office/drawing/2014/main" id="{73C723C1-2457-4BD6-A69D-A0642742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AD13FF4-0760-4C32-9DF3-642443B2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768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3D2F434-5C9E-4E6C-BA9F-36209206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4387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라이브 데모가 막혀도 같은 화면 흐름으로 설명 가능한 백업 슬라이드</a:t>
            </a:r>
          </a:p>
        </p:txBody>
      </p:sp>
    </p:spTree>
    <p:extLst>
      <p:ext uri="{BB962C8B-B14F-4D97-AF65-F5344CB8AC3E}">
        <p14:creationId xmlns:p14="http://schemas.microsoft.com/office/powerpoint/2010/main" val="1618406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CBEC33E9-A5E5-46C4-A659-FF690FED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ACE943D3-BDA9-484E-8733-EAB2A833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6318B529-24BD-43E7-88B4-E4CA3C94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DEDA11F-FF4F-4202-93CA-B69CCA7D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E4F6FBE-7400-4790-81AA-3655A863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시스템 구성: UI, DB/RAG, LangGraph, 안전 검증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CF2EC37-A90E-41B3-9249-36A5A73E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README의 실제 구성도를 발표용으로 재사용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C5359CA6-2782-4771-92D6-153E9113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Streamlit UI에서 온보딩과 결과를 제공</a:t>
            </a:r>
          </a:p>
        </p:txBody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376DC45D-2148-43D0-8877-1320C609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PostgreSQL + pgvector로 정형 데이터와 RAG 검색 통합</a:t>
            </a:r>
          </a:p>
        </p:txBody>
      </p:sp>
      <p:sp>
        <p:nvSpPr>
          <p:cNvPr id="9" name="surface">
            <a:extLst xmlns:a="http://schemas.openxmlformats.org/drawingml/2006/main">
              <a:ext uri="{FF2B5EF4-FFF2-40B4-BE49-F238E27FC236}">
                <a16:creationId xmlns:a16="http://schemas.microsoft.com/office/drawing/2014/main" id="{94873919-5B06-4960-BFF8-CEC90252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LangGraph StateGraph와 Send API로 worker Agent 동적 fan-out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B6BAC52E-53DC-4AB9-9B87-F06BAF8E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41719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171450" tIns="133350" rIns="171450" bIns="11430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LLM은 해석·합성에 사용하고, Guardrail은 규칙 기반으로 검증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6153f68654171"/>
          <a:stretch xmlns:a="http://schemas.openxmlformats.org/drawingml/2006/main"/>
        </p:blipFill>
        <p:spPr>
          <a:xfrm xmlns:a="http://schemas.openxmlformats.org/drawingml/2006/main">
            <a:off x="5124450" y="1547454"/>
            <a:ext cx="6381750" cy="3591643"/>
          </a:xfrm>
          <a:prstGeom xmlns:a="http://schemas.openxmlformats.org/drawingml/2006/main" prst="roundRect">
            <a:avLst>
              <a:gd name="adj" fmla="val 4569"/>
            </a:avLst>
          </a:prstGeom>
        </p:spPr>
      </p:pic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82509C27-83A2-430A-B5F3-993629BC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7B124DE7-3486-4B70-A842-DA03EADC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102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A0F44A5-F847-4778-9CAE-8296E9EF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721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LangGraph가 worker Agent를 분리하고 DB/RAG/Guardrail이 근거와 안전성을 보완</a:t>
            </a:r>
          </a:p>
        </p:txBody>
      </p:sp>
    </p:spTree>
    <p:extLst>
      <p:ext uri="{BB962C8B-B14F-4D97-AF65-F5344CB8AC3E}">
        <p14:creationId xmlns:p14="http://schemas.microsoft.com/office/powerpoint/2010/main" val="17337986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462C0F9-C498-4197-B11B-C8281875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D605F407-DF5C-4FE7-94F9-9465A8C8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6D1D5FC2-9FB7-4140-B65C-2CF1779C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071E465-B9F1-44A3-B2F8-EFDA71AD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0BCCA00-BA2E-4AD5-BBB5-0C1F973F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11노드 Agent 파이프라인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5FE3011-B496-4DAF-805B-D3F90EAE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Classifier 이후 필요한 worker를 fan-out하고 Strategist에서 join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601C2457-E466-42F7-A144-BBAFF197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14287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053667F-AC41-43F3-9830-B1FA7972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8117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D24A79-870B-40AE-BF9D-46A7D803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37475533-E69E-4996-8B36-44EC1C0A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38300"/>
            <a:ext cx="15049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3B1DA29-1AA2-47D4-830B-4F4EB5ED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781175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F76BC081-075A-4463-9AF6-985259F5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B17A0AB-781E-42AE-8465-BC387423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</a:t>
            </a:r>
          </a:p>
        </p:txBody>
      </p:sp>
      <p:sp>
        <p:nvSpPr>
          <p:cNvPr id="14" name="surface">
            <a:extLst xmlns:a="http://schemas.openxmlformats.org/drawingml/2006/main">
              <a:ext uri="{FF2B5EF4-FFF2-40B4-BE49-F238E27FC236}">
                <a16:creationId xmlns:a16="http://schemas.microsoft.com/office/drawing/2014/main" id="{4D0F77EF-1E78-44DF-BD3C-1044057B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D94B077-1585-417D-A75E-614C2488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11A8E375-1D81-491B-9786-3165BE03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38485E6-7B4A-43B4-AF1F-427E266E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Competitor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084F6C75-070A-4282-B253-CADCCAF7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24150"/>
            <a:ext cx="18478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0233B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3C66E86-EB71-414D-874F-AE6DA559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337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841CB2B3-5043-4C3B-B0E9-5EF7A49A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43150"/>
            <a:ext cx="3009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parallel worker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A2F69E-D1DB-48F6-8BED-6BA242C7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152650"/>
            <a:ext cx="0" cy="4572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52F2FA-3F0B-4D4B-B152-5822BD5A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2476500"/>
            <a:ext cx="16287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E8D488-B634-4691-AB8F-03D7DE24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476500"/>
            <a:ext cx="16097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2BAAE3-C498-414E-A76B-AA9CDA53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476500"/>
            <a:ext cx="15906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3F1368-3FEA-4572-9276-E5C3C674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476500"/>
            <a:ext cx="157162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6" name="surface">
            <a:extLst xmlns:a="http://schemas.openxmlformats.org/drawingml/2006/main">
              <a:ext uri="{FF2B5EF4-FFF2-40B4-BE49-F238E27FC236}">
                <a16:creationId xmlns:a16="http://schemas.microsoft.com/office/drawing/2014/main" id="{95EFED5F-CB6D-4EA8-88A6-400B9F15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57650"/>
            <a:ext cx="16192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1C9FBF7-B268-48A5-B2F2-F48AFC9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00525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A15A56-FC30-4DBD-BBE3-72D27067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43300"/>
            <a:ext cx="0" cy="4000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263B5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27F190-ED2E-426E-8B4C-2A094A9A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29100"/>
            <a:ext cx="514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surface">
            <a:extLst xmlns:a="http://schemas.openxmlformats.org/drawingml/2006/main">
              <a:ext uri="{FF2B5EF4-FFF2-40B4-BE49-F238E27FC236}">
                <a16:creationId xmlns:a16="http://schemas.microsoft.com/office/drawing/2014/main" id="{9D75A2B3-9624-4021-A85D-F201A14E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57650"/>
            <a:ext cx="20955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D1F781BA-C746-40B3-9023-A9A41065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200525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InvestmentAnalyst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64E419-1AC1-4D77-97B9-F8AD140C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229100"/>
            <a:ext cx="4381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surface">
            <a:extLst xmlns:a="http://schemas.openxmlformats.org/drawingml/2006/main">
              <a:ext uri="{FF2B5EF4-FFF2-40B4-BE49-F238E27FC236}">
                <a16:creationId xmlns:a16="http://schemas.microsoft.com/office/drawing/2014/main" id="{43A77E8A-009D-4C4B-AAB7-74314612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57650"/>
            <a:ext cx="13716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73EE7BA5-5A04-4999-B2F1-D20CAFBE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200525"/>
            <a:ext cx="118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</a:t>
            </a:r>
          </a:p>
        </p:txBody>
      </p:sp>
      <p:sp>
        <p:nvSpPr>
          <p:cNvPr id="35" name="surface">
            <a:extLst xmlns:a="http://schemas.openxmlformats.org/drawingml/2006/main">
              <a:ext uri="{FF2B5EF4-FFF2-40B4-BE49-F238E27FC236}">
                <a16:creationId xmlns:a16="http://schemas.microsoft.com/office/drawing/2014/main" id="{EFA9C1C2-2D80-47B1-B452-E7128CE0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010150"/>
            <a:ext cx="18859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DD6FFF8B-337D-4337-91E5-1DCA7AB6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1530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GuardrailApply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F2A5FA-8DC4-4BB6-B8D2-28878A38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181600"/>
            <a:ext cx="4762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69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surface">
            <a:extLst xmlns:a="http://schemas.openxmlformats.org/drawingml/2006/main">
              <a:ext uri="{FF2B5EF4-FFF2-40B4-BE49-F238E27FC236}">
                <a16:creationId xmlns:a16="http://schemas.microsoft.com/office/drawing/2014/main" id="{3748948A-3DCE-42A8-924A-69A54285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010150"/>
            <a:ext cx="192405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F93FCCFE-906B-4B7D-9F09-8F04A8EB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53025"/>
            <a:ext cx="1733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ResultRenderer</a:t>
            </a:r>
          </a:p>
        </p:txBody>
      </p:sp>
      <p:sp>
        <p:nvSpPr>
          <p:cNvPr id="40" name="surface">
            <a:extLst xmlns:a="http://schemas.openxmlformats.org/drawingml/2006/main">
              <a:ext uri="{FF2B5EF4-FFF2-40B4-BE49-F238E27FC236}">
                <a16:creationId xmlns:a16="http://schemas.microsoft.com/office/drawing/2014/main" id="{B69C84FD-D93C-498C-92B9-2D218300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41" name="text">
            <a:extLst xmlns:a="http://schemas.openxmlformats.org/drawingml/2006/main">
              <a:ext uri="{FF2B5EF4-FFF2-40B4-BE49-F238E27FC236}">
                <a16:creationId xmlns:a16="http://schemas.microsoft.com/office/drawing/2014/main" id="{7A9E1069-B176-4158-85CC-397E8D1D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293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42" name="text">
            <a:extLst xmlns:a="http://schemas.openxmlformats.org/drawingml/2006/main">
              <a:ext uri="{FF2B5EF4-FFF2-40B4-BE49-F238E27FC236}">
                <a16:creationId xmlns:a16="http://schemas.microsoft.com/office/drawing/2014/main" id="{1BF259A0-B4CF-48EA-B306-67A06A39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9912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 이후 필요한 worker를 병렬 실행하고, Strategist에서 join한 뒤 Analyst와 Guardrail을 통과한다.</a:t>
            </a:r>
          </a:p>
        </p:txBody>
      </p:sp>
    </p:spTree>
    <p:extLst>
      <p:ext uri="{BB962C8B-B14F-4D97-AF65-F5344CB8AC3E}">
        <p14:creationId xmlns:p14="http://schemas.microsoft.com/office/powerpoint/2010/main" val="19098893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257627E6-1EDA-4CB7-99A8-DA340D54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5855BE7A-A01F-486D-B62E-6E3BF1B0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263B5A7A-3160-413D-AA38-6B5013F1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C31E4D6-2BE1-478C-B679-51AD7E46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6BD14D1-930A-4D1A-981F-9217119C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핵심 Agent: 근거, 비교, 안전장치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FD1C175-0157-4EB3-B8F4-802D20EC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Agent의 실패 책임 범위를 나누고 검증 지점을 명확히 함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062250CE-3C59-4DBD-A2D5-41908897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3333750" cy="2686050"/>
          </a:xfrm>
          <a:prstGeom xmlns:a="http://schemas.openxmlformats.org/drawingml/2006/main" prst="roundRect">
            <a:avLst>
              <a:gd name="adj" fmla="val 7092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21058AA-085E-47CD-A7C2-47BE0C68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66900"/>
            <a:ext cx="2876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875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Competitor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A7069C4-4FB8-421B-9145-2E8B93B9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876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DB→MCP→mock 3단 폴백과 6/6 회귀 평가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ADC51221-FC2B-4334-8555-6D37C44B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819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4F8EF7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근거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2950DF16-7193-4722-9551-E125FDF0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00200"/>
            <a:ext cx="3333750" cy="2686050"/>
          </a:xfrm>
          <a:prstGeom xmlns:a="http://schemas.openxmlformats.org/drawingml/2006/main" prst="roundRect">
            <a:avLst>
              <a:gd name="adj" fmla="val 7092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B5A6BB7-781D-4934-A232-8642A6E4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876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875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Qual RAG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ED2E534-9DC4-4B80-8642-43DCDCD6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19350"/>
            <a:ext cx="2876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Hybrid 검색과 reranker 평가로 hit@5 1.0 기록</a:t>
            </a:r>
          </a:p>
        </p:txBody>
      </p:sp>
      <p:sp>
        <p:nvSpPr>
          <p:cNvPr id="14" name="surface">
            <a:extLst xmlns:a="http://schemas.openxmlformats.org/drawingml/2006/main">
              <a:ext uri="{FF2B5EF4-FFF2-40B4-BE49-F238E27FC236}">
                <a16:creationId xmlns:a16="http://schemas.microsoft.com/office/drawing/2014/main" id="{2ACDA08E-AEC2-45BE-8B22-4096F544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90950"/>
            <a:ext cx="819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검색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F136263A-4202-490E-8F51-1BA1E2E9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00200"/>
            <a:ext cx="3333750" cy="2686050"/>
          </a:xfrm>
          <a:prstGeom xmlns:a="http://schemas.openxmlformats.org/drawingml/2006/main" prst="roundRect">
            <a:avLst>
              <a:gd name="adj" fmla="val 7092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614ACF9-7D13-4D83-927D-D0732A7E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66900"/>
            <a:ext cx="2876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875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Guardrail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E104E013-4C16-4848-AB63-DA903C7E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19350"/>
            <a:ext cx="2876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7게이트로 위험 표현·PII를 검증하고 재합성 루프 수행</a:t>
            </a:r>
          </a:p>
        </p:txBody>
      </p:sp>
      <p:sp>
        <p:nvSpPr>
          <p:cNvPr id="18" name="surface">
            <a:extLst xmlns:a="http://schemas.openxmlformats.org/drawingml/2006/main">
              <a:ext uri="{FF2B5EF4-FFF2-40B4-BE49-F238E27FC236}">
                <a16:creationId xmlns:a16="http://schemas.microsoft.com/office/drawing/2014/main" id="{113B7ACC-BECE-41DF-BD5F-E47CA84A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90950"/>
            <a:ext cx="819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안전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61FCB0ED-9CE1-4A84-886C-3C371538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D037F758-E161-4FDC-B450-BBA350AA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4827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79C0A924-997C-4C8A-8D7F-78016005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1017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Agent의 장점은 기능 추가가 아니라 실패와 책임 범위를 분리할 수 있다는 점이다.</a:t>
            </a:r>
          </a:p>
        </p:txBody>
      </p:sp>
    </p:spTree>
    <p:extLst>
      <p:ext uri="{BB962C8B-B14F-4D97-AF65-F5344CB8AC3E}">
        <p14:creationId xmlns:p14="http://schemas.microsoft.com/office/powerpoint/2010/main" val="622254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30180916-C892-48A9-AE5C-89CEFC8B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07B87AFB-3F47-4373-AFC5-F81D6DC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79F32DF0-ADDF-434B-9D1C-6AE9612A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7AFF877-C10E-4E85-91B6-F6DC39F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D6A2C02-6B86-4314-89E2-92716231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stock-agent의 차별점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425A7E7-559A-4933-9070-4D5ABF90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기능 나열보다 평가 가능성과 실패 대응이 차별점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04C7771C-ED05-4166-80CD-30E86DF6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5AF143E9-3CAB-4A3B-A0D0-FAE2EE0B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0083AD9-81B8-46D1-8CB9-5A3127E4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2C41182-2550-448A-BCE9-33048C03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4307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보유 종목·현금 비중·투자성향을 함께 보는 포트폴리오 맥락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E867476F-7D58-4E5D-BDF5-4860F043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8115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76EDE04E-08A7-43F1-B4E3-1555358A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C111ADA-4DE4-48B5-AE8D-212EE00D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E02D908-B0EC-440C-B4B6-73E8D04B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4307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도구 계산과 LLM 해석을 분리해 환각 위험 완화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284FE714-90E6-46CB-9AB5-903DBC1F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125A14BB-5E12-4828-936E-B9593950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D263DCF-EFCC-4A75-A0A8-8F13CCD1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3130BD4-863F-45CA-9930-6620B8B1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7182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부분 실패를 허용하는 degraded fallback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96C5042E-1479-431B-9EF6-60A090D2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009900"/>
            <a:ext cx="5324475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44B126D1-23F0-4FA1-9484-A1FA7ACE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1813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84A2435-9FEC-4FD2-AA43-A36B4225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385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09DF4DC-677C-4B43-83ED-DCD9D57A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171825"/>
            <a:ext cx="45053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낮은 RAGAS 점수까지 공개하는 평가 문화</a:t>
            </a:r>
          </a:p>
        </p:txBody>
      </p:sp>
    </p:spTree>
    <p:extLst>
      <p:ext uri="{BB962C8B-B14F-4D97-AF65-F5344CB8AC3E}">
        <p14:creationId xmlns:p14="http://schemas.microsoft.com/office/powerpoint/2010/main" val="16122120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67AEF855-94DF-4A91-A6A9-17AA4FD0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8E25962C-BB84-48C8-B688-6FA622A9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04359C92-A785-4526-8648-4F1C2FB6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EAE0AE7-CB00-44C2-B3B8-073BEB28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D839432-2EBF-4857-B4D1-42A403D2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검증 결과: 강점과 한계를 같이 공개했다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3F8ED3E-7C9F-4EFA-90C1-AF1D171A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검증 결과를 장점과 한계로 동시에 공개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87A18408-2CD6-4E64-BBCB-72461DF6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2562225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3B5F55EA-E65F-4B0F-A8E0-1F758265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25622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71F2269-0267-4AF6-9B97-19EB65C2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21050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Phase 1 rule checks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6E6DC1A-EF81-4B41-9B88-98C46262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21050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40/41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7D57287-72C8-4040-AA8B-09B7BCAD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105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97.6%</a:t>
            </a:r>
          </a:p>
        </p:txBody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44C5B4A8-414B-4BAB-8641-5250DE21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676400"/>
            <a:ext cx="2562225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13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78182B91-8C81-4409-AE07-E1BCE680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676400"/>
            <a:ext cx="25622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E842EEA-76CF-4B5F-BC88-FA20DB16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05000"/>
            <a:ext cx="21050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Competitor 회귀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DB3A3805-FF8E-4421-8A64-5C2B115E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305050"/>
            <a:ext cx="21050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6/6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9C5FE9C1-2BD8-4D1B-834E-027AFEAC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33700"/>
            <a:ext cx="2105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100%</a:t>
            </a:r>
          </a:p>
        </p:txBody>
      </p:sp>
      <p:sp>
        <p:nvSpPr>
          <p:cNvPr id="17" name="surface">
            <a:extLst xmlns:a="http://schemas.openxmlformats.org/drawingml/2006/main">
              <a:ext uri="{FF2B5EF4-FFF2-40B4-BE49-F238E27FC236}">
                <a16:creationId xmlns:a16="http://schemas.microsoft.com/office/drawing/2014/main" id="{940438BB-AF7D-4EC6-88B4-16D3622F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2562225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18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43273456-0E8B-42F0-AE27-0527F4B0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25622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42AB2A90-1801-484C-B437-CEBE738E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05000"/>
            <a:ext cx="21050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Qual RAG hit@5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B48B8F8-0CFE-456B-B284-A90F1E3A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21050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1.0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7FB2202D-B401-4998-ABDA-EAF3FA09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33700"/>
            <a:ext cx="2105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MRR 1.0 / nDCG 0.93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D95DAD5A-0C6B-428A-9011-3F0FF5A4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676400"/>
            <a:ext cx="2562225" cy="2038350"/>
          </a:xfrm>
          <a:prstGeom xmlns:a="http://schemas.openxmlformats.org/drawingml/2006/main" prst="roundRect">
            <a:avLst>
              <a:gd name="adj" fmla="val 841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5496D"/>
            </a:solidFill>
            <a:prstDash val="solid"/>
          </a:ln>
        </p:spPr>
      </p:sp>
      <p:sp>
        <p:nvSpPr>
          <p:cNvPr id="23" name="metric-accent">
            <a:extLst xmlns:a="http://schemas.openxmlformats.org/drawingml/2006/main">
              <a:ext uri="{FF2B5EF4-FFF2-40B4-BE49-F238E27FC236}">
                <a16:creationId xmlns:a16="http://schemas.microsoft.com/office/drawing/2014/main" id="{5F8F9834-FD21-4B3E-A388-F7406869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676400"/>
            <a:ext cx="25622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D358276E-AC21-4457-A726-3DD4B47F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905000"/>
            <a:ext cx="21050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RAGAS faithfulness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A2D40F3D-0FCD-4030-B0C4-4DED08B5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305050"/>
            <a:ext cx="21050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6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0.41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930489B1-858C-4EFA-852D-1D901C48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933700"/>
            <a:ext cx="2105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목표 0.80 미달</a:t>
            </a:r>
          </a:p>
        </p:txBody>
      </p:sp>
      <p:sp>
        <p:nvSpPr>
          <p:cNvPr id="27" name="surface">
            <a:extLst xmlns:a="http://schemas.openxmlformats.org/drawingml/2006/main">
              <a:ext uri="{FF2B5EF4-FFF2-40B4-BE49-F238E27FC236}">
                <a16:creationId xmlns:a16="http://schemas.microsoft.com/office/drawing/2014/main" id="{58E8A3FC-765A-4974-949D-3FEE873B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52197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01F35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209550" tIns="171450" rIns="209550" bIns="15240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검증 신호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Rule checks 40/41, Competitor 6/6, Qual RAG hit@5 1.0</a:t>
            </a:r>
          </a:p>
        </p:txBody>
      </p:sp>
      <p:sp>
        <p:nvSpPr>
          <p:cNvPr id="28" name="surface">
            <a:extLst xmlns:a="http://schemas.openxmlformats.org/drawingml/2006/main">
              <a:ext uri="{FF2B5EF4-FFF2-40B4-BE49-F238E27FC236}">
                <a16:creationId xmlns:a16="http://schemas.microsoft.com/office/drawing/2014/main" id="{8B623995-A9CA-42B1-843C-34199FC2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54102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1C31"/>
          </a:solidFill>
          <a:ln xmlns:a="http://schemas.openxmlformats.org/drawingml/2006/main" w="9525">
            <a:solidFill>
              <a:srgbClr val="263B5E"/>
            </a:solidFill>
            <a:prstDash val="solid"/>
          </a:ln>
        </p:spPr>
        <p:txBody>
          <a:bodyPr xmlns:a="http://schemas.openxmlformats.org/drawingml/2006/main" lIns="209550" tIns="171450" rIns="209550" bIns="15240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공개 한계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RAGAS faithfulness 0.41은 생성 근거 반영 개선 과제</a:t>
            </a:r>
          </a:p>
        </p:txBody>
      </p:sp>
      <p:sp>
        <p:nvSpPr>
          <p:cNvPr id="29" name="surface">
            <a:extLst xmlns:a="http://schemas.openxmlformats.org/drawingml/2006/main">
              <a:ext uri="{FF2B5EF4-FFF2-40B4-BE49-F238E27FC236}">
                <a16:creationId xmlns:a16="http://schemas.microsoft.com/office/drawing/2014/main" id="{9FB2399B-5D3E-406E-ABA4-61FBBA41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C0D28FED-F10E-4B16-A282-9D8A3230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721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D1C32711-F816-4A6B-B52E-8664F498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340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검색은 잘 맞지만 생성이 근거를 충분히 반영하지 못하는 한계를 다음 개선 과제로 잡았다.</a:t>
            </a:r>
          </a:p>
        </p:txBody>
      </p:sp>
    </p:spTree>
    <p:extLst>
      <p:ext uri="{BB962C8B-B14F-4D97-AF65-F5344CB8AC3E}">
        <p14:creationId xmlns:p14="http://schemas.microsoft.com/office/powerpoint/2010/main" val="8282300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FFC4DB2A-C049-49B7-A263-3C9C4345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910334E7-2D43-4BE3-BD39-61400C98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6EC0B6D0-D34C-456C-A9E4-AF8917CE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5A1B2E0-C835-4DED-8C1A-ECC3FAF8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768373E-9BA8-49CB-9583-64EFEFA0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상업성: 개인투자자용 PB-lite 분석 보조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C08441E-977A-49E8-AC28-045F3BDD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추천 서비스가 아니라 설명 가능한 분석 보조 모듈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FDC55276-6414-41CF-9DCD-DFF70C14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958D8285-F5BA-4FA0-A52B-FC9050CB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AE9C9AB-E296-40A0-9D0A-1D3D3C18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FB3EBAD-1F93-4D02-AA5A-5ED2C829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4307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B2C: 개인투자자의 보유 종목 점검과 리포트 생성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A2416E0F-3024-4E1A-ADF2-C7E9C555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8115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48AE2F8A-2242-4092-AD8E-030450D1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07100CB-5D3F-4BE5-938C-D87A0998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895E5D3-8195-4A7E-89DF-B2522F95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4307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B2B: 증권·핀테크 앱의 설명형 AI 분석 모듈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07D6933B-51F5-4D8B-8447-18ABC43A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B6BAAAB0-2ADB-4775-8560-A8A07B16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718EE9F-C6D1-4B91-A7EC-2709D57C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794419D-5018-4678-ABE0-D794E251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5752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교육: 투자 판단 과정을 설명하는 실습형 튜터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7C993027-81F9-4408-B702-603693F0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9560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82099BB7-4B71-44BB-BA2B-1087D2AD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41024D9-D50F-41B1-B800-D560AD34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124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7434A233-EDCA-4551-A33E-A06B767E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5752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리서치 보조: 뉴스·공시·peer 요약 자동화</a:t>
            </a:r>
          </a:p>
        </p:txBody>
      </p:sp>
    </p:spTree>
    <p:extLst>
      <p:ext uri="{BB962C8B-B14F-4D97-AF65-F5344CB8AC3E}">
        <p14:creationId xmlns:p14="http://schemas.microsoft.com/office/powerpoint/2010/main" val="5135924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560640A1-3A39-4F3E-B685-BBB71BFC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721AFD09-9CFF-4FDB-86BF-BB47D9BF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4317EC76-AEFA-4A9A-99AA-EEC4105C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B1B7D3D-5E90-48BF-B241-5A1940DC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EFE4595-529B-41F9-9D8D-BF71FFBD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한계와 발전 가능성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BE05D8C-8A9A-412C-93B4-30F316E3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한계를 숨기지 않고 다음 개선 과제로 연결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5C66FEC6-376D-417D-87E8-ED9FA775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 xmlns:a="http://schemas.openxmlformats.org/drawingml/2006/main">
              <a:ext uri="{FF2B5EF4-FFF2-40B4-BE49-F238E27FC236}">
                <a16:creationId xmlns:a16="http://schemas.microsoft.com/office/drawing/2014/main" id="{A01A198D-9B4F-4CE6-B3DC-F816FAC3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B9F5663-E37F-4DFF-9979-BDA7C2F2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8F8DB26-327F-40D3-A5D1-AB6105EC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4307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RAG faithfulness 0.41 → 인용 스팬과 context gating으로 개선</a:t>
            </a:r>
          </a:p>
        </p:txBody>
      </p:sp>
      <p:sp>
        <p:nvSpPr>
          <p:cNvPr id="11" name="surface">
            <a:extLst xmlns:a="http://schemas.openxmlformats.org/drawingml/2006/main">
              <a:ext uri="{FF2B5EF4-FFF2-40B4-BE49-F238E27FC236}">
                <a16:creationId xmlns:a16="http://schemas.microsoft.com/office/drawing/2014/main" id="{3164E856-1A2F-4CB4-B83B-2E5C94C4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58115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 xmlns:a="http://schemas.openxmlformats.org/drawingml/2006/main">
              <a:ext uri="{FF2B5EF4-FFF2-40B4-BE49-F238E27FC236}">
                <a16:creationId xmlns:a16="http://schemas.microsoft.com/office/drawing/2014/main" id="{FCB10F76-5F04-48DB-A375-DD37D877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526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7D3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534E7E2-12E8-4F4E-9484-73AE7686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8097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0656117-5860-414C-A4DC-6DE95BE0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4307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users·holdings·analysis_cache 영속화 테이블 구현 필요</a:t>
            </a:r>
          </a:p>
        </p:txBody>
      </p:sp>
      <p:sp>
        <p:nvSpPr>
          <p:cNvPr id="15" name="surface">
            <a:extLst xmlns:a="http://schemas.openxmlformats.org/drawingml/2006/main">
              <a:ext uri="{FF2B5EF4-FFF2-40B4-BE49-F238E27FC236}">
                <a16:creationId xmlns:a16="http://schemas.microsoft.com/office/drawing/2014/main" id="{F99873E0-279D-4366-BC48-9BED6D6E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0183E2F4-E40F-4B45-89FE-925CC677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199042C-5EF6-4D8B-94A8-89D64C26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5FE2B1A-59CF-46AF-B61B-6EED417C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5752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실데이터 범위와 커버 종목 확대 필요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B536BB31-244D-4F8D-A58B-FD67A008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95600"/>
            <a:ext cx="5324475" cy="1143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 xmlns:a="http://schemas.openxmlformats.org/drawingml/2006/main">
              <a:ext uri="{FF2B5EF4-FFF2-40B4-BE49-F238E27FC236}">
                <a16:creationId xmlns:a16="http://schemas.microsoft.com/office/drawing/2014/main" id="{42B1146C-8E15-41C9-9C63-BFC49B52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6705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4B870DB3-3310-4A77-BA85-4DFE2128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12420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6BCA661C-7B27-4C66-8D23-A86A87E8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57525"/>
            <a:ext cx="45053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PB 리포트 PDF/Excel 다운로드와 운영 비용 제어 고도화</a:t>
            </a:r>
          </a:p>
        </p:txBody>
      </p:sp>
    </p:spTree>
    <p:extLst>
      <p:ext uri="{BB962C8B-B14F-4D97-AF65-F5344CB8AC3E}">
        <p14:creationId xmlns:p14="http://schemas.microsoft.com/office/powerpoint/2010/main" val="13052123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DE2CA53-ED23-4127-89AA-5667A6B2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8E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 xmlns:a="http://schemas.openxmlformats.org/drawingml/2006/main">
              <a:ext uri="{FF2B5EF4-FFF2-40B4-BE49-F238E27FC236}">
                <a16:creationId xmlns:a16="http://schemas.microsoft.com/office/drawing/2014/main" id="{17D71D81-7FBD-44C2-8AA9-EF873CEA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 xmlns:a="http://schemas.openxmlformats.org/drawingml/2006/main">
              <a:ext uri="{FF2B5EF4-FFF2-40B4-BE49-F238E27FC236}">
                <a16:creationId xmlns:a16="http://schemas.microsoft.com/office/drawing/2014/main" id="{96ED4396-44F5-4432-8C7E-C3D3B91A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7"/>
          </a:solidFill>
          <a:ln xmlns:a="http://schemas.openxmlformats.org/drawingml/2006/main" w="9525">
            <a:solidFill>
              <a:srgbClr val="27D3D0"/>
            </a:solidFill>
            <a:prstDash val="solid"/>
          </a:ln>
        </p:spPr>
        <p:txBody>
          <a:bodyPr xmlns:a="http://schemas.openxmlformats.org/drawingml/2006/main" lIns="114300" tIns="38100" rIns="114300" bIns="3810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0716CC7-CF4E-4EF3-BAC1-42AC1E55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3055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E58291C-5BEA-4B4F-BD67-05F851F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9525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팀 역할과 결론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FEAD6A9-F7D1-498C-B72D-052C5C12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620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PR/README 기반 역할 요약과 마지막 메시지</a:t>
            </a:r>
          </a:p>
        </p:txBody>
      </p:sp>
      <p:sp>
        <p:nvSpPr>
          <p:cNvPr id="7" name="surface">
            <a:extLst xmlns:a="http://schemas.openxmlformats.org/drawingml/2006/main">
              <a:ext uri="{FF2B5EF4-FFF2-40B4-BE49-F238E27FC236}">
                <a16:creationId xmlns:a16="http://schemas.microsoft.com/office/drawing/2014/main" id="{79D8F624-0A3C-4FC0-B259-10B02E23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F596374-E50B-4A30-A903-D4C84849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287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이동원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C8854BA-C75C-494C-99BC-E9E09F9A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192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PM·문서/설계·Competitor·평가/CI</a:t>
            </a:r>
          </a:p>
        </p:txBody>
      </p:sp>
      <p:sp>
        <p:nvSpPr>
          <p:cNvPr id="10" name="surface">
            <a:extLst xmlns:a="http://schemas.openxmlformats.org/drawingml/2006/main">
              <a:ext uri="{FF2B5EF4-FFF2-40B4-BE49-F238E27FC236}">
                <a16:creationId xmlns:a16="http://schemas.microsoft.com/office/drawing/2014/main" id="{38E6B302-360B-4EC2-A541-44AD734D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E7C29D5-6DAF-44F3-9633-A1976B9CB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145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백형준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AB32176-2C70-45EB-A8C0-741F80EE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050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UI·투자성향 intake·LangGraph streaming·LLM 연동</a:t>
            </a:r>
          </a:p>
        </p:txBody>
      </p:sp>
      <p:sp>
        <p:nvSpPr>
          <p:cNvPr id="13" name="surface">
            <a:extLst xmlns:a="http://schemas.openxmlformats.org/drawingml/2006/main">
              <a:ext uri="{FF2B5EF4-FFF2-40B4-BE49-F238E27FC236}">
                <a16:creationId xmlns:a16="http://schemas.microsoft.com/office/drawing/2014/main" id="{8D6D6550-4A3E-4A58-B92E-E2090CB3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155F244-770F-486A-B35F-E8318494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003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윤수정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8AE92595-8ECC-4E51-8EB1-56F4E7FD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908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Quant·Qual 공시·Guardrail·출력</a:t>
            </a:r>
          </a:p>
        </p:txBody>
      </p:sp>
      <p:sp>
        <p:nvSpPr>
          <p:cNvPr id="16" name="surface">
            <a:extLst xmlns:a="http://schemas.openxmlformats.org/drawingml/2006/main">
              <a:ext uri="{FF2B5EF4-FFF2-40B4-BE49-F238E27FC236}">
                <a16:creationId xmlns:a16="http://schemas.microsoft.com/office/drawing/2014/main" id="{3FD5D9B3-1D9E-4C40-B31F-874326C7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2230A84-249E-4E98-B21C-820DE5E4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861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문수빈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F495C2AA-CAB1-49F7-8FC4-31146086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766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Macro·Supabase·LangGraph fan-out</a:t>
            </a:r>
          </a:p>
        </p:txBody>
      </p:sp>
      <p:sp>
        <p:nvSpPr>
          <p:cNvPr id="19" name="surface">
            <a:extLst xmlns:a="http://schemas.openxmlformats.org/drawingml/2006/main">
              <a:ext uri="{FF2B5EF4-FFF2-40B4-BE49-F238E27FC236}">
                <a16:creationId xmlns:a16="http://schemas.microsoft.com/office/drawing/2014/main" id="{19EB881D-E0A8-41EC-9FFF-6F487FEA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1082040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1B2E"/>
          </a:solidFill>
          <a:ln xmlns:a="http://schemas.openxmlformats.org/drawingml/2006/main" w="9525">
            <a:solidFill>
              <a:srgbClr val="294967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B1CF84D6-C6FB-4FD9-9F79-D0029F81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7197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김도예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4178010D-5DEF-4CCA-9693-17C31837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62450"/>
            <a:ext cx="830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뉴스 크롤러·RAG 임베딩·Qual 검색 평가</a:t>
            </a:r>
          </a:p>
        </p:txBody>
      </p:sp>
      <p:sp>
        <p:nvSpPr>
          <p:cNvPr id="22" name="surface">
            <a:extLst xmlns:a="http://schemas.openxmlformats.org/drawingml/2006/main">
              <a:ext uri="{FF2B5EF4-FFF2-40B4-BE49-F238E27FC236}">
                <a16:creationId xmlns:a16="http://schemas.microsoft.com/office/drawing/2014/main" id="{B64C4A4D-AD0B-4750-9BB1-FB14C139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B2034"/>
          </a:solidFill>
          <a:ln xmlns:a="http://schemas.openxmlformats.org/drawingml/2006/main" w="9525">
            <a:solidFill>
              <a:srgbClr val="234663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BC71C45A-FE6D-40DC-9A93-A8B697AA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81625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0288709D-7F7D-4EC4-BDA4-D0EB8D5E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343525"/>
            <a:ext cx="912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우리는 투자 판단을 자동화한 것이 아니라, 판단에 필요한 근거를 Agent 구조로 분해하고 다시 합성했다.</a:t>
            </a:r>
          </a:p>
        </p:txBody>
      </p:sp>
    </p:spTree>
    <p:extLst>
      <p:ext uri="{BB962C8B-B14F-4D97-AF65-F5344CB8AC3E}">
        <p14:creationId xmlns:p14="http://schemas.microsoft.com/office/powerpoint/2010/main" val="11019292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2026-06-24T07:59:57.6970000Z</dcterms:created>
  <dcterms:modified xsi:type="dcterms:W3CDTF">2026-06-24T07:59:57.6970000Z</dcterms:modified>
</coreProperties>
</file>