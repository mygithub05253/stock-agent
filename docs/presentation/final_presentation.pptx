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1c413936ce4e2d" /><Relationship Type="http://schemas.openxmlformats.org/officeDocument/2006/relationships/extended-properties" Target="/docProps/app.xml" Id="R5fbfa72d7a0c4157" /><Relationship Type="http://schemas.openxmlformats.org/officeDocument/2006/relationships/officeDocument" Target="/ppt/presentation.xml" Id="R93c9a33157eb43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50810d8ec540f2"/>
  </p:sldMasterIdLst>
  <p:notesMasterIdLst>
    <p:notesMasterId xmlns:r="http://schemas.openxmlformats.org/officeDocument/2006/relationships" r:id="Ra1b2ea2c50e848ce"/>
  </p:notesMasterIdLst>
  <p:sldIdLst>
    <p:sldId xmlns:r="http://schemas.openxmlformats.org/officeDocument/2006/relationships" id="256" r:id="R278465c463e34f74"/>
    <p:sldId xmlns:r="http://schemas.openxmlformats.org/officeDocument/2006/relationships" id="257" r:id="R0d2e3bce87b44aaa"/>
    <p:sldId xmlns:r="http://schemas.openxmlformats.org/officeDocument/2006/relationships" id="258" r:id="R9ecc476abebf4a64"/>
    <p:sldId xmlns:r="http://schemas.openxmlformats.org/officeDocument/2006/relationships" id="259" r:id="R9d3425d4430d496a"/>
    <p:sldId xmlns:r="http://schemas.openxmlformats.org/officeDocument/2006/relationships" id="260" r:id="R5e03b42ef8804090"/>
    <p:sldId xmlns:r="http://schemas.openxmlformats.org/officeDocument/2006/relationships" id="261" r:id="R8df446d201cc45a5"/>
    <p:sldId xmlns:r="http://schemas.openxmlformats.org/officeDocument/2006/relationships" id="262" r:id="R6a3e78017ebb4477"/>
    <p:sldId xmlns:r="http://schemas.openxmlformats.org/officeDocument/2006/relationships" id="263" r:id="R3438192a145b48d4"/>
    <p:sldId xmlns:r="http://schemas.openxmlformats.org/officeDocument/2006/relationships" id="264" r:id="Rd8e2c938f6cc4855"/>
    <p:sldId xmlns:r="http://schemas.openxmlformats.org/officeDocument/2006/relationships" id="265" r:id="R19e5f940da6d4927"/>
    <p:sldId xmlns:r="http://schemas.openxmlformats.org/officeDocument/2006/relationships" id="266" r:id="R198758600a72433b"/>
    <p:sldId xmlns:r="http://schemas.openxmlformats.org/officeDocument/2006/relationships" id="267" r:id="R1400f767648a42b2"/>
    <p:sldId xmlns:r="http://schemas.openxmlformats.org/officeDocument/2006/relationships" id="268" r:id="R2d5bd4dcf3a94c27"/>
    <p:sldId xmlns:r="http://schemas.openxmlformats.org/officeDocument/2006/relationships" id="269" r:id="R4270e5cd345741d0"/>
    <p:sldId xmlns:r="http://schemas.openxmlformats.org/officeDocument/2006/relationships" id="270" r:id="R11cad846ef3c42df"/>
    <p:sldId xmlns:r="http://schemas.openxmlformats.org/officeDocument/2006/relationships" id="271" r:id="R7fd5fa2bdc2f4c27"/>
    <p:sldId xmlns:r="http://schemas.openxmlformats.org/officeDocument/2006/relationships" id="272" r:id="Rc5757e499ac74ec3"/>
    <p:sldId xmlns:r="http://schemas.openxmlformats.org/officeDocument/2006/relationships" id="273" r:id="R03ba4bc78fb645a2"/>
    <p:sldId xmlns:r="http://schemas.openxmlformats.org/officeDocument/2006/relationships" id="274" r:id="R84cb2c4fb1394d9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f57bcb87ec4108" /><Relationship Type="http://schemas.openxmlformats.org/officeDocument/2006/relationships/slideMaster" Target="/ppt/slideMasters/slideMaster1.xml" Id="R4150810d8ec540f2" /><Relationship Type="http://schemas.openxmlformats.org/officeDocument/2006/relationships/notesMaster" Target="/ppt/notesMasters/notesMaster1.xml" Id="Ra1b2ea2c50e848ce" /><Relationship Type="http://schemas.openxmlformats.org/officeDocument/2006/relationships/presProps" Target="/ppt/presProps.xml" Id="R5ab7a29d53ff44d3" /><Relationship Type="http://schemas.openxmlformats.org/officeDocument/2006/relationships/tableStyles" Target="/ppt/tableStyles.xml" Id="Rfc2ba8e38b244dab" /><Relationship Type="http://schemas.openxmlformats.org/officeDocument/2006/relationships/slide" Target="/ppt/slides/slide1.xml" Id="R278465c463e34f74" /><Relationship Type="http://schemas.openxmlformats.org/officeDocument/2006/relationships/slide" Target="/ppt/slides/slide2.xml" Id="R0d2e3bce87b44aaa" /><Relationship Type="http://schemas.openxmlformats.org/officeDocument/2006/relationships/slide" Target="/ppt/slides/slide3.xml" Id="R9ecc476abebf4a64" /><Relationship Type="http://schemas.openxmlformats.org/officeDocument/2006/relationships/slide" Target="/ppt/slides/slide4.xml" Id="R9d3425d4430d496a" /><Relationship Type="http://schemas.openxmlformats.org/officeDocument/2006/relationships/slide" Target="/ppt/slides/slide5.xml" Id="R5e03b42ef8804090" /><Relationship Type="http://schemas.openxmlformats.org/officeDocument/2006/relationships/slide" Target="/ppt/slides/slide6.xml" Id="R8df446d201cc45a5" /><Relationship Type="http://schemas.openxmlformats.org/officeDocument/2006/relationships/slide" Target="/ppt/slides/slide7.xml" Id="R6a3e78017ebb4477" /><Relationship Type="http://schemas.openxmlformats.org/officeDocument/2006/relationships/slide" Target="/ppt/slides/slide8.xml" Id="R3438192a145b48d4" /><Relationship Type="http://schemas.openxmlformats.org/officeDocument/2006/relationships/slide" Target="/ppt/slides/slide9.xml" Id="Rd8e2c938f6cc4855" /><Relationship Type="http://schemas.openxmlformats.org/officeDocument/2006/relationships/slide" Target="/ppt/slides/slide10.xml" Id="R19e5f940da6d4927" /><Relationship Type="http://schemas.openxmlformats.org/officeDocument/2006/relationships/slide" Target="/ppt/slides/slide11.xml" Id="R198758600a72433b" /><Relationship Type="http://schemas.openxmlformats.org/officeDocument/2006/relationships/slide" Target="/ppt/slides/slide12.xml" Id="R1400f767648a42b2" /><Relationship Type="http://schemas.openxmlformats.org/officeDocument/2006/relationships/slide" Target="/ppt/slides/slide13.xml" Id="R2d5bd4dcf3a94c27" /><Relationship Type="http://schemas.openxmlformats.org/officeDocument/2006/relationships/slide" Target="/ppt/slides/slide14.xml" Id="R4270e5cd345741d0" /><Relationship Type="http://schemas.openxmlformats.org/officeDocument/2006/relationships/slide" Target="/ppt/slides/slide15.xml" Id="R11cad846ef3c42df" /><Relationship Type="http://schemas.openxmlformats.org/officeDocument/2006/relationships/slide" Target="/ppt/slides/slide16.xml" Id="R7fd5fa2bdc2f4c27" /><Relationship Type="http://schemas.openxmlformats.org/officeDocument/2006/relationships/slide" Target="/ppt/slides/slide17.xml" Id="Rc5757e499ac74ec3" /><Relationship Type="http://schemas.openxmlformats.org/officeDocument/2006/relationships/slide" Target="/ppt/slides/slide18.xml" Id="R03ba4bc78fb645a2" /><Relationship Type="http://schemas.openxmlformats.org/officeDocument/2006/relationships/slide" Target="/ppt/slides/slide19.xml" Id="R84cb2c4fb1394d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28bdb3364444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2f1a168faa4ded" /><Relationship Type="http://schemas.openxmlformats.org/officeDocument/2006/relationships/notesMaster" Target="/ppt/notesMasters/notesMaster1.xml" Id="R22b7d0c100b94b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f23f5a83d343e0" /><Relationship Type="http://schemas.openxmlformats.org/officeDocument/2006/relationships/notesMaster" Target="/ppt/notesMasters/notesMaster1.xml" Id="R98bb00b32de74e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7cfefc329345aa" /><Relationship Type="http://schemas.openxmlformats.org/officeDocument/2006/relationships/notesMaster" Target="/ppt/notesMasters/notesMaster1.xml" Id="Rb645711f6b7844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057b43cffa49bd" /><Relationship Type="http://schemas.openxmlformats.org/officeDocument/2006/relationships/notesMaster" Target="/ppt/notesMasters/notesMaster1.xml" Id="Rdbfc1292fd2f49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2f55d44f2c4739" /><Relationship Type="http://schemas.openxmlformats.org/officeDocument/2006/relationships/notesMaster" Target="/ppt/notesMasters/notesMaster1.xml" Id="R4fe9030ad84f40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56463dd5894bc1" /><Relationship Type="http://schemas.openxmlformats.org/officeDocument/2006/relationships/notesMaster" Target="/ppt/notesMasters/notesMaster1.xml" Id="R7637f80edc3045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e9e6b7550f4ddd" /><Relationship Type="http://schemas.openxmlformats.org/officeDocument/2006/relationships/notesMaster" Target="/ppt/notesMasters/notesMaster1.xml" Id="Rdeee673eadee42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11a76aee444387" /><Relationship Type="http://schemas.openxmlformats.org/officeDocument/2006/relationships/notesMaster" Target="/ppt/notesMasters/notesMaster1.xml" Id="Rd7249e56d87d4f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de41039bca4618" /><Relationship Type="http://schemas.openxmlformats.org/officeDocument/2006/relationships/notesMaster" Target="/ppt/notesMasters/notesMaster1.xml" Id="R3806506fa86046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d1d730ffef4672" /><Relationship Type="http://schemas.openxmlformats.org/officeDocument/2006/relationships/notesMaster" Target="/ppt/notesMasters/notesMaster1.xml" Id="R9c892aa8e08c412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d0e4c97eb144a5" /><Relationship Type="http://schemas.openxmlformats.org/officeDocument/2006/relationships/notesMaster" Target="/ppt/notesMasters/notesMaster1.xml" Id="Rdc81eef2c9b041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5a6908c89e47f4" /><Relationship Type="http://schemas.openxmlformats.org/officeDocument/2006/relationships/notesMaster" Target="/ppt/notesMasters/notesMaster1.xml" Id="R48f82682edce46f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9384f14654486b" /><Relationship Type="http://schemas.openxmlformats.org/officeDocument/2006/relationships/notesMaster" Target="/ppt/notesMasters/notesMaster1.xml" Id="R77fdea2ac3ec479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6ff26163a24c2f" /><Relationship Type="http://schemas.openxmlformats.org/officeDocument/2006/relationships/notesMaster" Target="/ppt/notesMasters/notesMaster1.xml" Id="Rf49ce35e83004c4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8473a6a840e4d05" /><Relationship Type="http://schemas.openxmlformats.org/officeDocument/2006/relationships/notesMaster" Target="/ppt/notesMasters/notesMaster1.xml" Id="Ra2a74c10e3a24d3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fe8a79fdfb49e6" /><Relationship Type="http://schemas.openxmlformats.org/officeDocument/2006/relationships/notesMaster" Target="/ppt/notesMasters/notesMaster1.xml" Id="R26bc1d998f40423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25be364886346e7" /><Relationship Type="http://schemas.openxmlformats.org/officeDocument/2006/relationships/notesMaster" Target="/ppt/notesMasters/notesMaster1.xml" Id="R652c77af4c7a46b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4bb2c0a5c124345" /><Relationship Type="http://schemas.openxmlformats.org/officeDocument/2006/relationships/notesMaster" Target="/ppt/notesMasters/notesMaster1.xml" Id="R0136b1bedbc149d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d5491ec6c34ead" /><Relationship Type="http://schemas.openxmlformats.org/officeDocument/2006/relationships/notesMaster" Target="/ppt/notesMasters/notesMaster1.xml" Id="R118634d50df84a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문장은 투자 판단 자동화가 아니라 분석 신호를 구조화하는 시스템이라고 못 박는다.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역할을 앞에서 짚고, 이후 Agent 슬라이드마다 담당 구현과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출처는 본문에 크게 노출하지 않고 Q&amp;A 대응용으로만 기억한다.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수익률 수치는 표본 분석 기준이므로 숫자보다 문제 구조를 강조한다.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stock-agent는 아이디어가 아니라 현재 구현한 MVP라는 표현을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악마의 대변인이라는 표현 대신 Guardrail과 전문 Agent 관점 분리라고 말한다.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7장은 레이어, 8장은 11노드 흐름으로 나누어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기준 문서는 docs/architecture/pipeline_11node_groundtruth.md다.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 LangGraph Send API fan-out의 이유를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Quant는 '정확한 수치 계산 담당'이라는 한 문장으로 빠르게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30초 버전: 뉴스 수집, 임베딩 저장, Hybrid 검색, reranker, evidence/risk 생성 순서만 말한다. 영상에서 뉴스 fallback이 보이면 기능 실패가 아니라 DB 헬스체크 또는 임베딩 검색 연결 실패를 보수적으로 노출한 것이며, DATABASE_URL과 rag_chunks 임베딩 적재 상태를 확인해야 한다고 답변한다.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MCP는 '외부 데이터 경로를 표준 인터페이스로 노출한 점' 정도만 짚는다.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모든 요청에 macro를 돌리는 게 아니라 조건부 실행이라는 점을 강조한다.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투자 권유가 아니라 포트폴리오 맥락화된 분석 신호라고 반복한다.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심사위원에게 금융 도메인에서 안전 검증이 왜 필요한지 짧게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슬라이드에서 로컬 시연 영상으로 전환한다. 저장소에는 아직 영상 파일이 없으므로 HTML/PPTX에는 포스터형 슬라이드만 넣었다.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여기서는 구현 차별점만 말하고 경쟁사 비교를 반복하지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상업성은 '개인용 PB-lite'와 'B2B 분석 모듈' 두 축으로 말한다.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문장은 천천히 말하고 Q&amp;A로 넘긴다.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9700dcfbfe4f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f1999f2fae4546" /><Relationship Type="http://schemas.openxmlformats.org/officeDocument/2006/relationships/slideLayout" Target="/ppt/slideLayouts/slideLayout1.xml" Id="Reb54e7bb6bb940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54e7bb6bb940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5f29c7cc64453" /><Relationship Type="http://schemas.openxmlformats.org/officeDocument/2006/relationships/image" Target="/ppt/media/image.png" Id="R2d96b333e6b64c4d" /><Relationship Type="http://schemas.openxmlformats.org/officeDocument/2006/relationships/notesSlide" Target="/ppt/notesSlides/notesSlide1.xml" Id="Rbf49677c134041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45ae47d0d406b" /><Relationship Type="http://schemas.openxmlformats.org/officeDocument/2006/relationships/notesSlide" Target="/ppt/notesSlides/notesSlide2.xml" Id="R32a1cad2200942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4e6e960dc4f7c" /><Relationship Type="http://schemas.openxmlformats.org/officeDocument/2006/relationships/notesSlide" Target="/ppt/notesSlides/notesSlide3.xml" Id="R69c1447552a049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6b6d440f14916" /><Relationship Type="http://schemas.openxmlformats.org/officeDocument/2006/relationships/notesSlide" Target="/ppt/notesSlides/notesSlide4.xml" Id="R9a4be543a67a49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e1c2069d34134" /><Relationship Type="http://schemas.openxmlformats.org/officeDocument/2006/relationships/notesSlide" Target="/ppt/notesSlides/notesSlide5.xml" Id="R35be2bd5ad9d42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6f1048fa140c9" /><Relationship Type="http://schemas.openxmlformats.org/officeDocument/2006/relationships/notesSlide" Target="/ppt/notesSlides/notesSlide6.xml" Id="R557816c4f50c4d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845d47ea94561" /><Relationship Type="http://schemas.openxmlformats.org/officeDocument/2006/relationships/image" Target="/ppt/media/image2.png" Id="R9acd844b4a374f18" /><Relationship Type="http://schemas.openxmlformats.org/officeDocument/2006/relationships/notesSlide" Target="/ppt/notesSlides/notesSlide7.xml" Id="R231745df2ce940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3fb26b1df447f" /><Relationship Type="http://schemas.openxmlformats.org/officeDocument/2006/relationships/notesSlide" Target="/ppt/notesSlides/notesSlide8.xml" Id="R388c20f996ac43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145e3f8824ff4" /><Relationship Type="http://schemas.openxmlformats.org/officeDocument/2006/relationships/notesSlide" Target="/ppt/notesSlides/notesSlide9.xml" Id="Ra16b47a89bf14f6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17808d0d541fd" /><Relationship Type="http://schemas.openxmlformats.org/officeDocument/2006/relationships/notesSlide" Target="/ppt/notesSlides/notesSlide10.xml" Id="R6ac1bc7bf88b46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f7f707f834ca8" /><Relationship Type="http://schemas.openxmlformats.org/officeDocument/2006/relationships/notesSlide" Target="/ppt/notesSlides/notesSlide11.xml" Id="R67676f342eff40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b4f1b89624d4b" /><Relationship Type="http://schemas.openxmlformats.org/officeDocument/2006/relationships/notesSlide" Target="/ppt/notesSlides/notesSlide12.xml" Id="R231c0eb1d03848f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13ed63341499e" /><Relationship Type="http://schemas.openxmlformats.org/officeDocument/2006/relationships/notesSlide" Target="/ppt/notesSlides/notesSlide13.xml" Id="R04354be420384c2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0cf8cc98d4854" /><Relationship Type="http://schemas.openxmlformats.org/officeDocument/2006/relationships/notesSlide" Target="/ppt/notesSlides/notesSlide14.xml" Id="Ra579952d34b34c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a89ef9c534286" /><Relationship Type="http://schemas.openxmlformats.org/officeDocument/2006/relationships/notesSlide" Target="/ppt/notesSlides/notesSlide15.xml" Id="Rfbd83916a9244c8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2e6c7617144f2" /><Relationship Type="http://schemas.openxmlformats.org/officeDocument/2006/relationships/image" Target="/ppt/media/image.jpeg" Id="R066cba5a72fb4169" /><Relationship Type="http://schemas.openxmlformats.org/officeDocument/2006/relationships/image" Target="/ppt/media/image2.jpeg" Id="R250a8b878c694024" /><Relationship Type="http://schemas.openxmlformats.org/officeDocument/2006/relationships/notesSlide" Target="/ppt/notesSlides/notesSlide16.xml" Id="Rdaf470100940442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5d210172d43a5" /><Relationship Type="http://schemas.openxmlformats.org/officeDocument/2006/relationships/notesSlide" Target="/ppt/notesSlides/notesSlide17.xml" Id="R315cba7a9a65476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cc59bd92f4f8d" /><Relationship Type="http://schemas.openxmlformats.org/officeDocument/2006/relationships/notesSlide" Target="/ppt/notesSlides/notesSlide18.xml" Id="Ree008926ab3b40c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9a7f4fb2345c2" /><Relationship Type="http://schemas.openxmlformats.org/officeDocument/2006/relationships/notesSlide" Target="/ppt/notesSlides/notesSlide19.xml" Id="Rc318a8da6f794f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eft-band">
            <a:extLst xmlns:a="http://schemas.openxmlformats.org/drawingml/2006/main">
              <a:ext uri="{FF2B5EF4-FFF2-40B4-BE49-F238E27FC236}">
                <a16:creationId xmlns:a16="http://schemas.microsoft.com/office/drawing/2014/main" id="{4A3F7876-884E-4B49-8404-813A5FE2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surface">
            <a:extLst xmlns:a="http://schemas.openxmlformats.org/drawingml/2006/main">
              <a:ext uri="{FF2B5EF4-FFF2-40B4-BE49-F238E27FC236}">
                <a16:creationId xmlns:a16="http://schemas.microsoft.com/office/drawing/2014/main" id="{5D88BC91-BF73-4E2F-BF93-9DBE2CFE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4574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 final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2028D6E-7F51-4A45-8857-F157AE08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8C9AADE-7372-4BB2-9ED7-B1B61708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5143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rPr>
              <a:t>개인투자자의 의사결정을 구조화하는 멀티에이전트 분석 보조 시스템</a:t>
            </a:r>
          </a:p>
        </p:txBody>
      </p:sp>
      <p:sp>
        <p:nvSpPr>
          <p:cNvPr id="5" name="surface">
            <a:extLst xmlns:a="http://schemas.openxmlformats.org/drawingml/2006/main">
              <a:ext uri="{FF2B5EF4-FFF2-40B4-BE49-F238E27FC236}">
                <a16:creationId xmlns:a16="http://schemas.microsoft.com/office/drawing/2014/main" id="{906F0E35-10B6-45A9-818F-E33294E5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C26758F-FDC0-4C20-812B-C8BDBAA1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4807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투자성향과 보유 포트폴리오를 함께 반영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6D313B48-21F9-4417-814F-76309841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185558C-BCEA-4768-9DED-315D9B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6242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정량·정성·Peer·거시 데이터를 Agent가 분리 분석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8511EF64-0F3B-4D27-A57A-14F4FDC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C8BA95F-94EF-4A22-ACD2-999EF1C0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7677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 권유가 아닌 근거 기반 분석 신호 제공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CA0BD88-EC9F-4A92-9095-3343653B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626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2026-06-27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96b333e6b64c4d"/>
          <a:srcRect xmlns:a="http://schemas.openxmlformats.org/drawingml/2006/main" l="24803" t="0" r="2480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514350"/>
            <a:ext cx="5219700" cy="5829300"/>
          </a:xfrm>
          <a:prstGeom xmlns:a="http://schemas.openxmlformats.org/drawingml/2006/main" prst="roundRect">
            <a:avLst>
              <a:gd name="adj" fmla="val 4380"/>
            </a:avLst>
          </a:prstGeom>
        </p:spPr>
      </p:pic>
    </p:spTree>
    <p:extLst>
      <p:ext uri="{BB962C8B-B14F-4D97-AF65-F5344CB8AC3E}">
        <p14:creationId xmlns:p14="http://schemas.microsoft.com/office/powerpoint/2010/main" val="461624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0423BF34-1C6D-43DC-A639-5585C37E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96A7ADFE-CF45-4209-A06A-BA108268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B5250623-F986-41EE-B7FA-3E34A533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B509B72-85C2-4DFA-9318-205ACBB1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B338801-5BF0-4CDD-95AD-4D946DF4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팀 역할: Agent별 책임을 나눠 실제 구현까지 연결했다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CF14EBE-E64F-4780-8E4A-424BB65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PR/README 기반 역할 요약과 마지막 메시지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FB5FD49-0889-41C0-8808-D5779F4B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A4B916C-07F2-44D8-B18E-47344AE7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287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이동원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8B5FAFD-4CDA-4D50-AE6E-DD2CFF64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192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PM·문서/설계·Competitor·평가/CI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91C7734C-C0E2-40F7-B618-8E6A9A41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06BD570-A49C-4688-941E-23C0462C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145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백형준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4ED9B21-13FA-40B0-8FAB-93AADC33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050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UI·투자성향 intake·LangGraph streaming·LLM 연동</a:t>
            </a:r>
          </a:p>
        </p:txBody>
      </p:sp>
      <p:sp>
        <p:nvSpPr>
          <p:cNvPr id="13" name="surface">
            <a:extLst xmlns:a="http://schemas.openxmlformats.org/drawingml/2006/main">
              <a:ext uri="{FF2B5EF4-FFF2-40B4-BE49-F238E27FC236}">
                <a16:creationId xmlns:a16="http://schemas.microsoft.com/office/drawing/2014/main" id="{9D7684A1-F05A-4A52-A64B-2751B686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B63B7E7-73BD-49AF-A2A8-42BD0624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003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윤수정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AE87A67-8A33-4A63-ACDF-BA60C758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Quant·Qual 공시·Guardrail·출력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EA4DA035-9F7E-4FAC-9E99-BE797FAD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D5F47A0-A326-4891-8BB0-9AFDDBAE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861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문수빈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23C24BD-8E44-4C45-A6FB-E81A72D3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766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Macro·Supabase·LangGraph fan-out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84A8EE4F-4C11-46E9-9DE6-04BC473D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333AABC0-4761-4BDB-878B-77B73FFC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719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김도예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25E4816-7D99-44AA-B853-CE54DEF2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624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뉴스 크롤러·RAG 임베딩·Qual Hybrid 검색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77BAED4A-166B-4202-9BB1-E6561ACE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045EBEBB-2327-46E1-8E62-B57C25CB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816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B288A9D8-F362-4791-98E9-18CEC594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435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발표는 팀 역할 → 문제 정의 → Agent 구조 → 시연 영상 → 사업성과 한계 순서로 빠르게 전개한다.</a:t>
            </a:r>
          </a:p>
        </p:txBody>
      </p:sp>
    </p:spTree>
    <p:extLst>
      <p:ext uri="{BB962C8B-B14F-4D97-AF65-F5344CB8AC3E}">
        <p14:creationId xmlns:p14="http://schemas.microsoft.com/office/powerpoint/2010/main" val="8323321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F12A8BD1-F65C-44C0-9722-3E5F4FFD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89A42303-E67D-4FE7-912A-366C5445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C63A738A-1938-44C7-BB49-3BC3F373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0B71350-1831-4AD5-8D4C-66CC8EBC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7B32654-B42F-4F84-A95B-8A485951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개인투자 시장은 커졌지만 판단 부담도 커졌다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3DBEFC6-E38C-47EA-B27C-512E1A56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시장 확대와 판단 복잡도 상승을 한 장에 압축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8EC60277-B26E-441C-9F76-871D5BD3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16A0F6E2-4A89-4F61-A391-3D375F26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128A3B4-FBC6-455F-AF14-E974DAE2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개인투자자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4AB91A8-CEC9-4518-925A-47E75915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1,442만 명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009ABCF-9F68-468C-A2BC-9B14428F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2025년 말 개인 기준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B9BD408D-427A-4495-A0F8-0A0E0C96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3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84F60B2A-B77A-4E86-965E-97AF0EE3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68AC508-DE52-497E-B610-3D8E47DC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주식거래 활동계좌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CF0FE2C-45D7-4DE2-B594-10534D69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1억 500만 개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8341F31-DA4E-433D-9102-438CA89A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2026.04.29 금융투자협회</a:t>
            </a:r>
          </a:p>
        </p:txBody>
      </p:sp>
      <p:sp>
        <p:nvSpPr>
          <p:cNvPr id="17" name="surface">
            <a:extLst xmlns:a="http://schemas.openxmlformats.org/drawingml/2006/main">
              <a:ext uri="{FF2B5EF4-FFF2-40B4-BE49-F238E27FC236}">
                <a16:creationId xmlns:a16="http://schemas.microsoft.com/office/drawing/2014/main" id="{F61B4FF0-F461-48A5-86C9-EC75BB0A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88D0928D-34DF-45C3-8F5E-B0F455F7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4A78D0A-CD07-4377-8922-AF2BD178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 MTS 거래 비중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6D23A0D-8EDE-4E9E-BBBE-E76A6772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65.7%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E31BF36-EDCF-4E08-BF4C-14AF18B8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2026년 1~5월 한국거래소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E9670796-DBC3-45CC-9F4C-2A8B25BE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4033F974-A1A4-4D50-9BA4-F6E13671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01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4D632D18-B8AB-497C-9D3B-49BF6E44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720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투자는 대중화되었지만, 판단은 더 빠르고 복잡한 모바일 환경으로 이동했다.</a:t>
            </a:r>
          </a:p>
        </p:txBody>
      </p:sp>
    </p:spTree>
    <p:extLst>
      <p:ext uri="{BB962C8B-B14F-4D97-AF65-F5344CB8AC3E}">
        <p14:creationId xmlns:p14="http://schemas.microsoft.com/office/powerpoint/2010/main" val="1400119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232FF76-A332-4303-9822-6940A0A3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266F1D37-0D9E-41C0-91D8-C08244FC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B689AFD8-5F92-4EFE-8C78-06BE687A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5536E39-6605-4D49-B153-AA442269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A2CCE18-EE7B-4631-BFDA-8E188AC6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문제: 정보는 많지만 근거 있는 통합 판단은 어렵다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10969E2-ABE7-4AE9-85A7-A258A3CB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정보 과잉, 모바일 즉시성, 낮은 맥락화가 함께 만든 의사결정 공백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E29750DA-7DE3-4A17-8DDF-CCCA0698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99C07F8A-0FEE-4037-AA30-90C0B5C9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FB15CC4-21BB-48DE-81BF-58AAF765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3828563-570A-4DE9-89B7-31B798BF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526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1~3종목 집중투자 비중 59.7%: 포트폴리오 리스크가 개인에게 집중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9AA96F16-27A2-43B6-80C1-D3A8A697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E47009BD-5525-42A0-9844-F0471DAE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A125BB2-0F3E-485D-8505-EF034B75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41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63EB81E-8D36-4B6D-B1EF-F80E249B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194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디지털 금융이해력 59.3점: 모바일 금융 사용은 보편화됐지만 이해도는 부족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15F5821E-88D2-4FA0-9CEB-EB80D2BA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082B6321-4342-4C55-B8B9-12C9F3D1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6E85691-1B7D-4B47-9C2F-BC5059CB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5A12DAD-A777-43D6-9C9A-2F4362B0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862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 평균 수익률 부진: 흩어진 정보가 행동 편향을 줄여주지 못함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0CAACD6B-3C44-4FDB-8415-42242BC0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E8D1007-F1B3-4FCF-8E6B-6DEC643D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054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1F352EA-8F3B-4C2B-9ACE-9E98CB73E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673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핵심 문제는 정보 부족이 아니라, 흩어진 정보를 내 포트폴리오 맥락에서 해석하는 능력의 부족이다.</a:t>
            </a:r>
          </a:p>
        </p:txBody>
      </p:sp>
    </p:spTree>
    <p:extLst>
      <p:ext uri="{BB962C8B-B14F-4D97-AF65-F5344CB8AC3E}">
        <p14:creationId xmlns:p14="http://schemas.microsoft.com/office/powerpoint/2010/main" val="4893122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87799BDC-42D1-4F17-9C7D-8A36084F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863F8A4E-F041-42BF-97C0-A97657A1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5652681E-0F3A-4761-976B-E84FC566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18344E7-E7B2-4688-8B53-5CBC8410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801A2EA-9A25-407A-8778-CD912FCA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기존 대안은 한 가지 축만 해결한다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2665035-6D91-41D5-8FBF-9A99AE7E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각 대안은 강점이 있지만 세 공백을 동시에 닫지는 못함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85800" y="1562100"/>
          <a:ext xmlns:a="http://schemas.openxmlformats.org/drawingml/2006/main" cx="108204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5450"/>
                <a:gridCol w="1352550"/>
                <a:gridCol w="1352550"/>
                <a:gridCol w="1352550"/>
                <a:gridCol w="5067300"/>
              </a:tblGrid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대안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멀티 관점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 검증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증권사 MTS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정보는 많지만 종합 판단은 사용자 몫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로보어드바이저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자산배분 중심, 개별 종목 근거 설명 약함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범용 LLM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실시간 데이터·출처·환각 통제 한계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stock-agent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맥락에서 Agent별 근거를 합성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</a:tr>
            </a:tbl>
          </a:graphicData>
        </a:graphic>
      </p:graphicFrame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B0289728-1858-433E-A7FB-29BD463B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4F7DE9B-C19F-468D-8472-011D21EA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292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47E541C-F688-4354-82A5-CF187C19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911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시장 공백은 내 보유 종목 기준으로 여러 근거를 검증해주는 분석 보조다.</a:t>
            </a:r>
          </a:p>
        </p:txBody>
      </p:sp>
    </p:spTree>
    <p:extLst>
      <p:ext uri="{BB962C8B-B14F-4D97-AF65-F5344CB8AC3E}">
        <p14:creationId xmlns:p14="http://schemas.microsoft.com/office/powerpoint/2010/main" val="16390902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A2A7627-1197-4429-981D-0FA70D90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DC2B59F7-397D-4878-ACC9-98360668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E659CE9D-DFA0-42D1-9A95-BB6CDFB4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9A61D1D-5834-4986-BD73-2818BF2F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96AFFE6-89AC-4761-BC29-1CE4A6D1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왜 멀티 Agent인가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A5DA609-28C1-47EF-9275-C34DF396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LLM 하나가 아니라 역할 분리, 근거 통합, 안전검증을 분리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DE33CD2A-7A51-4AEA-81D2-1CDA9145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7F65A63F-1834-4CA9-8878-7F649ED2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4CD54A0-01DB-4A42-A9F3-F4B6D10E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E1EB22B-C39E-4099-B3AB-A5A42247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계산과 해석 분리: 정량 수치는 Tool/DB가 만들고 LLM은 설명과 합성에 집중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F1F29DE5-67A7-45AE-BA7A-A73D8DEF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AA8D6C44-DAEC-4EAB-AB61-6761B419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9CEA8E2-5FC4-4A5D-AED9-0DBBE239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D3EEC22-A76C-4361-A900-442C8111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관점 분리: Quant·Qual·Peer·Macro가 서로 다른 실패 범위와 책임을 가짐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A0BED9E7-862C-4213-BC42-A7A672C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081A4720-5DA7-4ECB-A563-4D32A32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E7CB59BA-40E4-4970-BE24-09C6D63B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FB89CC2-4460-4F84-B909-5F935CA0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부분 실패 허용: 한 Agent가 실패해도 fallback과 warning으로 분석 흐름 유지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7DF751DB-8BEE-417B-B85B-A5C27E7C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A15CF0E1-2428-47F1-B4C4-AD44E34A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3762DFE-B27E-41D1-924E-B4FD5C28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6C07C5F7-928F-4334-9C7C-511E837A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최종 안전 검증: Guardrail이 투자 권유, PII, 근거 부족 표현을 마지막에 점검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A56823FF-EF54-4C25-BE76-52FE0B26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826E6FC6-3378-440A-982A-0FD0B680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625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1FF6583A-C4D9-4311-B4E4-5DFCA4DD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244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 모델이 모든 판단을 말하는 구조보다, 역할을 나눠 계산·검색·합성·검증을 분리하는 구조가 더 설명 가능하다.</a:t>
            </a:r>
          </a:p>
        </p:txBody>
      </p:sp>
    </p:spTree>
    <p:extLst>
      <p:ext uri="{BB962C8B-B14F-4D97-AF65-F5344CB8AC3E}">
        <p14:creationId xmlns:p14="http://schemas.microsoft.com/office/powerpoint/2010/main" val="11689764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5BECE383-6F18-4379-9414-0F5A6778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5818316F-47D2-48AF-A2A8-34C065E4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AE5DBD09-5734-473A-A790-D501A672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3AA22A5-7B6D-4736-83D4-A2A76908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4DF428A-12CA-4403-A27D-4CEF71BC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시스템 구성: UI, DB/RAG, LangGraph, 안전 검증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3C6DBA9-FD56-47D6-B2CC-BC6CB5AC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README의 실제 구성도를 발표용으로 재사용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099FC6A7-AF54-401F-86C5-9E00BE0B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Streamlit UI에서 온보딩과 결과를 제공</a:t>
            </a:r>
          </a:p>
        </p:txBody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1A9FEB04-3007-4AB3-A8C0-11C21108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PostgreSQL + pgvector로 정형 데이터와 RAG 검색 통합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5797F42B-0990-475A-9214-4D51CDC0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 StateGraph와 Send API로 worker Agent 동적 fan-out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DA03421A-13DC-46EA-B64D-19DEC839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LLM은 해석·합성에 사용하고, Guardrail은 규칙 기반으로 검증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d844b4a374f18"/>
          <a:stretch xmlns:a="http://schemas.openxmlformats.org/drawingml/2006/main"/>
        </p:blipFill>
        <p:spPr>
          <a:xfrm xmlns:a="http://schemas.openxmlformats.org/drawingml/2006/main">
            <a:off x="5124450" y="1547454"/>
            <a:ext cx="6381750" cy="3591643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5EF504A8-9E15-4C6A-A601-57A2CA18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D4052DA-5204-49A4-AF59-31655021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102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2791A93-2A16-4726-A78D-CB35EA54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721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LangGraph가 worker Agent를 분리하고 DB/RAG/Guardrail이 근거와 안전성을 보완</a:t>
            </a:r>
          </a:p>
        </p:txBody>
      </p:sp>
    </p:spTree>
    <p:extLst>
      <p:ext uri="{BB962C8B-B14F-4D97-AF65-F5344CB8AC3E}">
        <p14:creationId xmlns:p14="http://schemas.microsoft.com/office/powerpoint/2010/main" val="832359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F9BCC54F-0DC6-426E-AA6F-FBE98FFD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AB3A36D4-6EE8-4492-8AF3-DA3C40D8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C4E90675-372B-4A9A-B802-08613B33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FD9BA5D-3395-474B-9667-3B00CDDA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C7A2D14-FB4F-428C-A209-E21F1273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11노드 Agent 파이프라인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000231E-30DF-45D1-B603-9001F15D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Classifier 이후 필요한 worker를 fan-out하고 Strategist에서 join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A8DE9B2-B13C-4350-A03F-81D24CAC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4287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5BA4F10-1FD1-4276-BBD7-73A0146A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8117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B32FE7-FBF6-40CC-B289-EF13535E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D42367DD-B6AC-4BF5-B8DD-E45DD3D8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38300"/>
            <a:ext cx="15049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988354C-5F43-4884-A1D2-CFB2679E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781175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C7B9835D-3399-423A-8A54-FD4FD139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EEB4647-A6A8-4F99-85F4-153C381F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8AF9FF2C-050A-4281-9A26-43E0C285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A32C393-EC49-4730-849F-0A236AC3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CCA2A22C-42EC-4C35-9D8E-21152596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2E7C79F-1A02-4670-BF09-D4489FA5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Competitor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44173880-1144-4258-A714-7A74EDAC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A841570E-F811-41DB-AADF-C1181AA3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24765C2-B8F3-4C48-B1E0-808052A8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43150"/>
            <a:ext cx="3009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parallel worker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9CCD8-C2F0-406C-8A3E-642FD4B9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152650"/>
            <a:ext cx="0" cy="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BCFC9C-9EDC-4AF5-AE09-A5759496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2476500"/>
            <a:ext cx="16287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70D246-24A1-41CC-81A3-1085552E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476500"/>
            <a:ext cx="16097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04959D-9B73-4075-BB9E-2B91B529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476500"/>
            <a:ext cx="15906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EB133C-1A99-43EF-97B6-54E61985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476500"/>
            <a:ext cx="15716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913812CE-45A7-4A06-8FAA-E5D657B0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57650"/>
            <a:ext cx="16192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1B757E10-5F99-4391-89EF-13309275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005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70A8AA-BB18-4702-BAFA-56803EE6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43300"/>
            <a:ext cx="0" cy="4000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585EED-B356-4064-8D5E-28D4A1D8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2910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surface">
            <a:extLst xmlns:a="http://schemas.openxmlformats.org/drawingml/2006/main">
              <a:ext uri="{FF2B5EF4-FFF2-40B4-BE49-F238E27FC236}">
                <a16:creationId xmlns:a16="http://schemas.microsoft.com/office/drawing/2014/main" id="{755D8DBB-DBA1-4959-A561-EE489507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57650"/>
            <a:ext cx="20955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A9F747AE-74AF-4E71-86C3-AECF8824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00525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InvestmentAnalyst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30E96E-0468-41A1-95C0-78CA6E66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229100"/>
            <a:ext cx="4381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urface">
            <a:extLst xmlns:a="http://schemas.openxmlformats.org/drawingml/2006/main">
              <a:ext uri="{FF2B5EF4-FFF2-40B4-BE49-F238E27FC236}">
                <a16:creationId xmlns:a16="http://schemas.microsoft.com/office/drawing/2014/main" id="{78F5A1FB-6292-491D-A15B-8A7667ED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57650"/>
            <a:ext cx="13716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FEE33C23-824A-44D8-8922-77D88836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200525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</a:t>
            </a:r>
          </a:p>
        </p:txBody>
      </p:sp>
      <p:sp>
        <p:nvSpPr>
          <p:cNvPr id="35" name="surface">
            <a:extLst xmlns:a="http://schemas.openxmlformats.org/drawingml/2006/main">
              <a:ext uri="{FF2B5EF4-FFF2-40B4-BE49-F238E27FC236}">
                <a16:creationId xmlns:a16="http://schemas.microsoft.com/office/drawing/2014/main" id="{EFC3637F-A34B-4408-807C-2E64E9C8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010150"/>
            <a:ext cx="18859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71784704-AEBF-483A-9B7F-AAEEA89B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1530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GuardrailApply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822834-63AC-484E-ABB3-410E62A3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181600"/>
            <a:ext cx="4762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surface">
            <a:extLst xmlns:a="http://schemas.openxmlformats.org/drawingml/2006/main">
              <a:ext uri="{FF2B5EF4-FFF2-40B4-BE49-F238E27FC236}">
                <a16:creationId xmlns:a16="http://schemas.microsoft.com/office/drawing/2014/main" id="{1B2EEBA2-0B39-4D4A-BE32-B19EC719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010150"/>
            <a:ext cx="19240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2E2F003F-979B-4FC9-B555-42B81684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53025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ResultRenderer</a:t>
            </a:r>
          </a:p>
        </p:txBody>
      </p:sp>
      <p:sp>
        <p:nvSpPr>
          <p:cNvPr id="40" name="surface">
            <a:extLst xmlns:a="http://schemas.openxmlformats.org/drawingml/2006/main">
              <a:ext uri="{FF2B5EF4-FFF2-40B4-BE49-F238E27FC236}">
                <a16:creationId xmlns:a16="http://schemas.microsoft.com/office/drawing/2014/main" id="{38E38A46-C1C8-41BE-AB80-73EF30A6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CD36B97C-8A14-4323-A62F-AD9B7C0C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293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42" name="text">
            <a:extLst xmlns:a="http://schemas.openxmlformats.org/drawingml/2006/main">
              <a:ext uri="{FF2B5EF4-FFF2-40B4-BE49-F238E27FC236}">
                <a16:creationId xmlns:a16="http://schemas.microsoft.com/office/drawing/2014/main" id="{7A052D1F-2908-4D56-8E7C-58244135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9912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 이후 필요한 worker를 병렬 실행하고, Strategist에서 join한 뒤 Analyst와 Guardrail을 통과한다.</a:t>
            </a:r>
          </a:p>
        </p:txBody>
      </p:sp>
    </p:spTree>
    <p:extLst>
      <p:ext uri="{BB962C8B-B14F-4D97-AF65-F5344CB8AC3E}">
        <p14:creationId xmlns:p14="http://schemas.microsoft.com/office/powerpoint/2010/main" val="13755791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2DE6024C-E873-4133-96BC-7B53F173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88359C0F-BCA7-4C8F-8385-8B337F48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F9252E2D-C8C1-4E5D-8D5B-02337522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00EE1F3-8D1C-4441-A248-85103A76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4F86302-3988-4BE7-A72C-1052EBDD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Curator·Classifier: 질문을 실행 계획으로 바꾼다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686A9A5-280B-40D2-B228-A35F9AF5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사용자 자연어와 포트폴리오를 분석 가능한 종목·섹터·worker_plan으로 구조화하는 앞단 Agent입니다.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56C6E4CB-4729-448F-B4C7-B109E679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D3B29B47-432B-42B6-A365-D196F9F9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C86F467-C6B8-45A4-9885-BDFA6AB9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9966A93-BC10-4906-8BC9-8B0D80C0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사용자 질의·보유 포트폴리오 수신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97DC531E-2D20-48A7-B165-CD5D4C26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4BB62C59-8AFF-4286-A7EE-E3D0BE97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8356355-CB7C-4DF7-B2DF-7C545964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53067EA-E5E1-4034-9B34-5FBBD36A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분석 대상 종목/후보와 섹터 확정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5429E20D-3B91-480C-8086-92CA6EA1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8FD5846C-D607-4118-9F38-A6C633C2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C25E9C4-5F39-4067-A2A2-7E2A1D4B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29C0449A-7D8F-44AB-826A-0C0F698F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intent·scope·urgency·depth 분류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D7BA73A7-E85E-4ACB-95E0-E399769E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74A1F92B-FF82-42F4-95FD-FE0E02D1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CD548818-6517-45D2-893E-A11D87C6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AEF22A5-5020-456C-A5A9-6CA8E647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필요 Agent worker_plan 생성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CDCCE0F7-B32D-4B71-B49F-EB87CBDF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76FDC579-A7E5-43C3-84DE-0D26E748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Input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9A54D55A-827E-444F-B870-E1796055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user_query, portfolio, onboarding profile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C6ACB70A-3452-45B8-BCA4-FF364985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44D017D3-AAF0-4177-A2D6-AFCC0FF7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Decision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92ED4825-D439-430A-8A7D-78776E2E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single_stock / sector / portfolio 범위와 macro 실행 여부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34EFEB97-0BEC-4023-AFA0-4E9F6AC0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3EEDF4DA-F8D8-4EB8-BA58-94E52D24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Output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2CFA27EB-75F6-4188-8A66-99EF734E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CuratorResult, RequestClassification, graph_route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CF1367B0-883D-4FBA-8CEC-0A05C65B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918611BC-241B-4334-B0DD-84FE68EB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AA7F283A-2E12-4C55-A824-72ED0660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Agent 구조의 출발점은 '무엇을 분석할지'와 '어떤 Agent를 실행할지'를 먼저 고정하는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7511772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1B739B13-6B67-4FAC-9C7B-CE0E9B83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6481CE16-9195-40F7-9486-AD0AA2EB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F7443CB3-D467-4F7B-86AB-0D513070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D407D29-B279-4C13-BAC8-9104982D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3612CC5-6989-4B70-9B7D-C59D47D6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 Agent: LLM이 숫자를 만들지 않게 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D34E599-3BE6-4308-8282-7D62A54B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DART 재무와 pykrx 시세를 기반으로 PER/PBR, 성장률, 수익성, 재무 리스크를 계산합니다.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D734D322-A347-4A9F-88B4-A63E8853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942EAA23-20EE-4CBF-9FF8-1176191E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20251CD-9DF3-403C-BAFB-161D25AA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B1DD2EC-8BF8-4D1F-B3A2-FA1F2612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Curator가 확정한 stock_code/corp_code 수신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BA40C4BA-0394-4EC5-B00A-A7A73532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4F84DF31-4173-4D09-A01D-927AFFDA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1701B03-FB9E-4EB4-A197-AA716E38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53082CE-E2C4-49E9-839E-8030D5F3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시세와 재무제표 Tool 호출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2CC4875C-C897-4D85-8618-169D05A3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8E30769C-B18F-4111-8A3E-E795CAA9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57AE83E2-45C2-4CF4-8D45-A4CBDFE5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2E062693-F5EC-427D-AED5-A868E73D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PER/PBR/성장률/부채비율 등 지표 계산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E061FB3F-B8FB-4E2A-A33F-C5867842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F82BB4CB-D7A9-463B-857E-CDDD55DC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138B38C0-D11D-4E02-820F-8CB4F051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D1E0E4C3-24ED-4DB8-8D87-3FEA9B69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score, valuation_signal, reasons, risks 반환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96824065-D414-4132-AA8A-F1E910C9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D27EAB7D-D9ED-4791-92FF-171C6B3A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원칙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9674B738-12C9-42BD-B450-3C0C5573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수치 생성은 Tool/DB 담당, LLM은 임의 보정 금지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1D2BC77D-17B0-4BD3-B4DB-ECB3F4E4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5363110-8A93-49FE-8381-51A45D8B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78D4299D-4D5B-4E72-8E98-C65BD470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DB/API 실패 시 보수적 fallback과 warning 남김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9AB20DAB-AC84-4841-94CF-7603AFBE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64A90B87-E8EE-484E-9C4C-BDFBB4BD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전달값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7579F85F-91B0-46F0-87B9-9E2A3FA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Strategist가 가중 합성할 정량 score와 핵심 이유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1DBFF37E-D72D-44D1-BF30-65A03935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B09A2E4D-AE30-428D-B8C0-00242F54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435188C1-3C71-45B4-82B7-2E80F4D9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 Agent는 설명 가능한 계산 근거를 제공해 LLM 환각 위험을 낮춘다.</a:t>
            </a:r>
          </a:p>
        </p:txBody>
      </p:sp>
    </p:spTree>
    <p:extLst>
      <p:ext uri="{BB962C8B-B14F-4D97-AF65-F5344CB8AC3E}">
        <p14:creationId xmlns:p14="http://schemas.microsoft.com/office/powerpoint/2010/main" val="15332398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8E58A51F-F1F7-44C1-8C53-28F6369A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963B4034-1C25-4EA9-9508-9ED1BA8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F97FC3A5-E728-4F3B-9434-57F772F7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B268FCF-2751-4DC7-A813-88EA4567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4A9ADBE-4486-44DA-86DA-0B3900E2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 Agent: 뉴스 수집에서 evidence/risk까지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36DF51E-234C-44FE-B7B0-D8A4B601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뉴스 수집 → RAG 임베딩 → Hybrid/RRF → reranker → evidence/risk 생성 흐름입니다.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33138C34-867C-4A24-8825-03544DF3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2EE33C35-27F9-4CEC-9177-BC6A0D15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EE4B4CE-5DFF-4FB5-B540-9EF747F7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뉴스 수집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2F74348-861D-4375-AA00-1EA30891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네이버 금융 종목 뉴스와 공시 문서 적재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75DAB0B1-9E23-4B49-B4F8-875A51FC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274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7516C960-AB8A-4791-A65F-7C8181A9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19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8EB60A8-F661-489C-8285-97860867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19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RAG 임베딩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E9CFCD7-9D9A-49F8-9AE6-50827830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19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raw_news → docs/chunks, bge-m3 벡터화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A97C5368-BEBD-4306-8DA9-529C4270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8C35DAEF-0FC2-45ED-B19D-EFAAC268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0068BC8-6A16-4A6F-A08A-5345E020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Hybrid/RRF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79FE9AD-EAA2-45DD-9F19-B0804129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pgvector 의미 검색 + keyword ts_rank를 RRF로 결합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0021B888-6AAC-4E66-8CEC-5B1F1CFD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5409D4E1-9CBD-46A4-9E46-A9DCAFA5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07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57B4882-A91D-42A9-A1BE-D715593A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07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Reranker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CF41B3E3-0726-47E7-AD2F-13DEF408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07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선택적으로 top-k 후보를 cross-encoder 기준 재정렬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4D04BC00-9F9D-4B8E-A9E0-335F2E05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56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24" name="surface">
            <a:extLst xmlns:a="http://schemas.openxmlformats.org/drawingml/2006/main">
              <a:ext uri="{FF2B5EF4-FFF2-40B4-BE49-F238E27FC236}">
                <a16:creationId xmlns:a16="http://schemas.microsoft.com/office/drawing/2014/main" id="{2CB658A6-7D2B-42D1-901D-FB7EF2BC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1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B1B1418-4991-4C6F-95BD-501EC201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1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QualResult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B2165307-EE69-4F54-A4E9-C1FC4146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1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evidence, sentiment, event_type, risk, fallback_reason 생성</a:t>
            </a:r>
          </a:p>
        </p:txBody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24C2FCDA-D590-4862-9226-7F681AD3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333375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8A1A671D-3ABD-47B3-9326-AD3F45B5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담당 자료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F2ED68E7-43ED-4CB1-852E-A120A992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914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docs/agents/news_rag_pipeline.html, docs/agents/qual_agent_flow.html 기반</a:t>
            </a:r>
          </a:p>
        </p:txBody>
      </p:sp>
      <p:sp>
        <p:nvSpPr>
          <p:cNvPr id="30" name="surface">
            <a:extLst xmlns:a="http://schemas.openxmlformats.org/drawingml/2006/main">
              <a:ext uri="{FF2B5EF4-FFF2-40B4-BE49-F238E27FC236}">
                <a16:creationId xmlns:a16="http://schemas.microsoft.com/office/drawing/2014/main" id="{CF944741-52A5-4723-BD97-C8351FD3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38550"/>
            <a:ext cx="333375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7E52027C-E8CA-4987-9EA3-7F6C1498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290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핵심 가치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ED65609C-E2C0-4BA0-B2D6-322B81F9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914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출처 없는 요약이 아니라 검색 근거를 Qual evidence로 전달</a:t>
            </a:r>
          </a:p>
        </p:txBody>
      </p:sp>
      <p:sp>
        <p:nvSpPr>
          <p:cNvPr id="33" name="surface">
            <a:extLst xmlns:a="http://schemas.openxmlformats.org/drawingml/2006/main">
              <a:ext uri="{FF2B5EF4-FFF2-40B4-BE49-F238E27FC236}">
                <a16:creationId xmlns:a16="http://schemas.microsoft.com/office/drawing/2014/main" id="{29829719-8D0A-4923-9945-183B4A6D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38550"/>
            <a:ext cx="333375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DFC42E45-D9BE-48E7-9332-AE058550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290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안정성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AAA99F1B-92C5-4B4B-91F9-9E404A70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71950"/>
            <a:ext cx="2914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데모에서 뉴스 fallback이 보이면 DB/임베딩 연결 실패 신호로 보고 연결 상태를 점검</a:t>
            </a:r>
          </a:p>
        </p:txBody>
      </p:sp>
      <p:sp>
        <p:nvSpPr>
          <p:cNvPr id="36" name="surface">
            <a:extLst xmlns:a="http://schemas.openxmlformats.org/drawingml/2006/main">
              <a:ext uri="{FF2B5EF4-FFF2-40B4-BE49-F238E27FC236}">
                <a16:creationId xmlns:a16="http://schemas.microsoft.com/office/drawing/2014/main" id="{FEB17F12-3A2F-4CB2-A840-670ED30F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EE467915-65EA-4DFC-AE40-4EC90C14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DC8FBA18-E7EB-4F9F-A654-5ECE3F31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 Agent는 '뉴스를 읽어준다'가 아니라, 검색 가능한 근거를 만들어 정성 리스크로 변환한다.</a:t>
            </a:r>
          </a:p>
        </p:txBody>
      </p:sp>
    </p:spTree>
    <p:extLst>
      <p:ext uri="{BB962C8B-B14F-4D97-AF65-F5344CB8AC3E}">
        <p14:creationId xmlns:p14="http://schemas.microsoft.com/office/powerpoint/2010/main" val="138375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26BBCEC2-BB35-4B09-BF2E-96561C94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9F446055-0072-4D28-84BD-FFF0E1E7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D603577D-193A-44B6-8F21-F6B68B6D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C939947-D20D-4E63-804F-AA92EC50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2DA1AFA-D79A-43CB-A0CE-0AC8BD7E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Competitor Agent: 같은 섹터 안에서 상대 위치를 계산한다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8229CEE-6D1D-41C0-9D79-1315258E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대상 종목의 peer를 찾고, 밸류에이션·수익성·성장성·재무 안정성을 비교합니다.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8B6F8795-0237-4FEA-AC46-E9CE14EC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703D670C-1374-4211-96F8-7D58920F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369ECA2-A0BD-44EB-B589-06476814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A18BBB1-FCF0-48CA-B2A7-677DFB05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Curator가 확정한 sector와 stock_code 수신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168D7957-8824-4840-8024-A9F209D0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B61EE1DC-CC41-436E-872B-39AD7F8C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F8764EA-15F2-43AD-8E4E-E78A883D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568A43E-6FD4-47D8-8013-FD49CFC3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company, stock_price, financial_statement에서 peer 후보 조회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F97B58D5-F6BE-483C-B171-E8722EED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5FCC8F76-2C07-4AA1-A790-C9111873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5F4AFDDF-E080-4FEA-A119-CD6279E1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9E23307-30DF-4E69-8135-462A6872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시총 band와 복합 유사도로 비교군 선정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80C5349C-972B-4965-A0B4-8FD9A4F6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862FCE9F-13E2-47C0-890A-6ECD59EA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EECF16D0-1B47-4FD5-8F7D-C087BC77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B2F57E1-0573-4439-A1C5-643F586D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상대 위치 score, warnings, peer_summary 반환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2BC3288D-E041-4EDF-9DFA-CCF018C8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693810D7-F964-4A5D-B8DC-414B2C1C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3단 경로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A3664077-333F-4BC8-B11E-5F94DEF7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 성공 → MCP 실시간 시세 → 데모 최후 보루 mock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FB688C8E-1D09-4292-8AEF-770CE124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0EBC8FE1-0911-4823-B7E3-118B3E48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계산 기준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33FE976B-65F2-401E-BAFD-A5AAC20C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PER/PBR/ROE/성장률/마진/부채비율/데이터 품질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79B8EBC5-3299-485A-91FA-4938D456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02701CE2-30E3-4299-8883-C5104A3B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역할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FEAECC11-DDB8-42CB-B961-4872CEC8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사용자에게 '내 종목이 업종 내 어디쯤인지' 설명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45B721D8-7DF3-4485-81B5-FE41260A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F9724E75-CEF0-4976-9FC9-58117C8B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DF7EDFCC-7072-412F-95B1-332785C1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Peer 비교를 분리했기 때문에 단일 종목 분석이 업종 맥락 없이 흐르는 문제를 줄인다.</a:t>
            </a:r>
          </a:p>
        </p:txBody>
      </p:sp>
    </p:spTree>
    <p:extLst>
      <p:ext uri="{BB962C8B-B14F-4D97-AF65-F5344CB8AC3E}">
        <p14:creationId xmlns:p14="http://schemas.microsoft.com/office/powerpoint/2010/main" val="7620436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845B4C0-D84E-40E0-B2FC-62942A82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16938E0D-2904-4A95-AD81-57B87111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798089E6-F25E-44BE-95BB-BD7E3C8D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56A9241-60F9-458F-8B4B-023453D0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594ABCD-DAA4-470E-BDDB-B1215EE3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Agent: 개별 종목을 거시 환경 안에 놓는다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A8AAD5D-0856-462C-AB5C-F25D12CF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금리, 환율, CPI, GDP, 뉴스심리지수 등 거시 지표를 업종 영향으로 해석합니다.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A09B29EC-15F1-4DA4-A7EF-311D27AA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9F068F1D-94D4-4734-84F0-0D4FC995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D5E94CF-40EE-45AB-958E-0D440E41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CCDC568-4333-4EE4-AAB9-FC4F5D1C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sector와 as_of_date 기준 macro context 조회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8DF4D4F6-CFF5-499F-9D47-0E59D649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3E93A9C9-41C7-412B-9818-016EA2AB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52390B8-02E3-4356-9C0E-904429CA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7BA9DAE-3B2E-4867-8A19-794F416E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금리·물가·성장·환율·심리 지표를 정규화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895A4AA0-8760-49EA-8367-496A643E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156C9D88-FE23-47DA-9EAC-BA191445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1E3FE2B-38F8-4713-B133-23B2CFAC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A818BCB-A6D9-444A-8164-75F7A05C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업종별 민감도에 따라 score와 risks 계산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3C92ED07-695D-4853-8130-4622B33B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93590A8A-A5A9-44FA-B37F-248AB612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CE78339A-80F2-4077-AFB3-39C76041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3E3C812-303A-4C62-A7DC-880789D6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portfolio/sector 분석 또는 sector가 있는 단일 종목에서 조건부 실행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B7B35FCD-456E-437C-A6E9-6EDBE1DD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1488FAA-30CB-4464-AEC2-9E353277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조건부 실행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319A4A20-89E4-42E0-832A-D6DF94EB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 worker_plan에 macro가 있을 때만 Send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D753DCDE-E2AD-44BD-BA80-EE45039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08D458B-DD8B-4711-878A-E500D7FF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해석 방향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6CFE45AD-5723-4419-90B9-7E7242F3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금리/환율/물가가 업종 수익성에 미치는 압력 설명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97A36FB4-D5C7-4B24-90D8-12EAC6A7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124ECAAB-8BD2-4909-AC8D-3459B0E4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3DEB9268-444A-4925-A748-20E83212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DB/tool 실패 시 보수적 지표와 warning 반환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E7DF709F-D53B-4475-ADA8-5FD1DE82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748974CB-47DD-4D3C-AD8C-50609922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F07B9493-4CC1-4092-81BC-CBCC187B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Macro는 개별 종목 판단이 시장 환경과 분리되어 보이는 문제를 보완한다.</a:t>
            </a:r>
          </a:p>
        </p:txBody>
      </p:sp>
    </p:spTree>
    <p:extLst>
      <p:ext uri="{BB962C8B-B14F-4D97-AF65-F5344CB8AC3E}">
        <p14:creationId xmlns:p14="http://schemas.microsoft.com/office/powerpoint/2010/main" val="1125271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2975505-0655-4728-B10B-6B195D64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833BA183-D885-4962-9BDF-92D82C82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A53B0CB8-F8C2-486C-9AE5-EC6A30A4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06B25FF-2AAF-4176-A16E-EF708BF5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C26CD24-7DE8-4485-9624-987B5A7B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Strategist·Analyst: 근거를 개인 맥락으로 합성한다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028EFA9-424D-4C8D-9A9C-1761AEFF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Worker 결과를 단순 평균하지 않고, 사용자 보유 비중과 투자성향을 반영해 최종 분석 신호를 만듭니다.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9B15573A-76FF-4C5D-A704-3DD4F829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7BF68136-1FF6-47C2-8072-A0968ACE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418110F-F61D-45D8-8255-1B2AE06D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B01E93D-FBC7-49B7-87B0-56904C9C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Worker Agent 결과 join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770AB021-F3D1-4DD4-A694-3B25D090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5CDD64A7-4B7D-4DE8-8382-C449AA2F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44F038D-1F22-4C08-B9FF-25A739F5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767E6F9-EDC5-48F1-9940-A4BF30EE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포함 여부에 따라 가중치 재조정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E48BCF32-FABC-490E-BF95-B1E8C5F9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1DFB2446-809B-4726-9C0A-DD480695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F7DD6B6-801A-4506-A2C7-015AD8F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6550E4D-9D38-4958-8331-1AE11F2E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보유 비중·위험성향·투자기간으로 suitability 보정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1878BE83-3839-4B99-B6AF-F98BF4EF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BE9032C6-8C4E-458D-ABD8-48C8C813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283D1D4-057D-4E34-989A-E83D85FA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1430E9B-9801-4737-B4C6-F0C25404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sLLM/GLM이 thesis와 risk narrative를 보완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BDECB2EE-60BE-4B9A-BBAE-82FEF0EB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C21B8BE8-7F92-434C-B829-BC80D1A0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가중 합성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00AC211-FBAE-4AAA-84F0-45FD597A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 40~45%, Qual 25~30%, Competitor 20~25%, Macro 15%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23EC693A-4BD5-4A55-9813-B50CE33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F97F6A6C-8A46-403A-B337-8A033C07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개인화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1D8133C3-FE41-4E34-B97B-9ACFC2F7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같은 종목이라도 보유 비중과 위험성향에 따라 suitability가 달라짐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F1B2F20A-F35F-4F1D-9D37-A5961028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DA1CD0AC-372E-4F69-8EDF-A60E07BD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543BD8A4-F290-436E-A8B4-876D76A4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LLM 실패 시 rule-based Strategist 결과를 유지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B56AEB42-E92E-4916-8228-E8187510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51C9D9A7-7C91-473D-9D83-F72BB77F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751B28EB-671B-4278-857E-934AEB05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개인화는 중간 근거를 바꾸는 것이 아니라, 최종 해석과 적합도에서 반영한다.</a:t>
            </a:r>
          </a:p>
        </p:txBody>
      </p:sp>
    </p:spTree>
    <p:extLst>
      <p:ext uri="{BB962C8B-B14F-4D97-AF65-F5344CB8AC3E}">
        <p14:creationId xmlns:p14="http://schemas.microsoft.com/office/powerpoint/2010/main" val="13771422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8DB89CFC-E6AD-4F7A-842F-18849B55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56ABCD94-8E9A-4C0A-B898-5E9DDF14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D22378CF-F7E1-4C7B-908C-82F583E5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AAE8167-7F98-486B-890F-7F9672EC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1EAB177-39A6-4B68-987E-21CFB6C0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Guardrail·Renderer: 안전하게 보여주는 마지막 단계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F16901A-C2DF-4179-8FA6-6F0FFDC8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최종 출력 전 PII, 욕설, 수익 보장, 투자 권유성 표현, 근거 부족을 점검하고 Tier 결과로 렌더링합니다.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83710188-8DC1-4ECD-A4C0-3F107FE9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466A38B0-4D8D-414E-AF57-577A56C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13661B0-50FD-4E9B-8927-3F8F4DF0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9A5B4BA-7A11-4FD8-805C-3FB153DF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 결과를 Guardrail 7게이트로 검사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1FF0518D-24FC-4E5E-AB1D-23459B67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6D0F9CC7-C328-49CD-8335-DDAA34C6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D5207E4-BD88-42C8-8E2E-A538FEBF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FC49CC4-8661-406D-813C-A8082176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PII나 금지 표현 발견 시 보수적 HOLD와 마스킹 적용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EE723C2B-87E8-46D2-9BB9-CE2C90AF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F73A7DBA-D706-4D06-B653-25C4DB0C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A92F62E-5F61-45F0-A18B-EC8DA0CE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A6CAC13-90A8-426D-9622-C355F66A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근거 부족은 recomposer revision loop로 최대 2회 재합성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35FA6876-5F02-4E7A-A8D6-D5F0EF30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61EDDBBC-7FF8-41A7-B212-7FBC2AE6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83BF90D2-3EA8-43D6-99FE-861817F2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A3B80613-EFE7-4D25-BDEB-91835A95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ResultRenderer가 Tier 1/2/3와 다운로드 산출물 구조화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14771EF7-157B-4A7B-9981-43D230E4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89F774AB-F2F7-4C91-AFF4-12600B81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Safety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C5E7218E-337A-47C4-8828-C992DE9A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 권유·수익 보장·민감정보 노출을 최종 차단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9C3AD036-9357-4EB7-9540-2798B66F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7498441-ED81-4C7F-AADA-AEF18095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Transparency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C874FAC2-6EB3-4688-9614-F63AF4D1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fallback과 근거 부족은 사용자 경고로 승격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44C1E8AA-C117-44F3-93C4-97B5347A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6A12A9DD-226F-402F-8E8D-B4592C21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Output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5875FDD0-501E-4BF8-A86A-88E791CE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 줄 신호, 근거 카드, 상세 리포트로 분리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029B6D38-A9F7-406E-91D9-A04F88AD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8FE211A2-2C54-4F13-9316-6366734D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1A87C2BE-B5E1-4362-B109-7E1A89BC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좋은 분석보다 중요한 것은 위험한 표현을 그대로 내보내지 않는 구조다.</a:t>
            </a:r>
          </a:p>
        </p:txBody>
      </p:sp>
    </p:spTree>
    <p:extLst>
      <p:ext uri="{BB962C8B-B14F-4D97-AF65-F5344CB8AC3E}">
        <p14:creationId xmlns:p14="http://schemas.microsoft.com/office/powerpoint/2010/main" val="11232548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874A5100-745B-4C9B-BF3B-80FCB39B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CFDD95D1-3C41-450A-B7EC-9F48071D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388D0988-AEFD-4FDE-B427-E00AE0D5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31B1774-DC0C-4B0E-8B2B-F211A50C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9AAB85E-39E6-4759-90F3-C0932173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시연은 라이브 대신 영상으로 안정적으로 보여준다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5F93EEA-20EC-4A98-9CE8-4179597F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라이브 조작 대신 준비된 영상으로 사용자 흐름을 안정적으로 전달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086E4A4-4F4A-445B-B18E-F27D3BB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667500" cy="36576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6172A"/>
          </a:solidFill>
          <a:ln xmlns:a="http://schemas.openxmlformats.org/drawingml/2006/main" w="9525">
            <a:solidFill>
              <a:srgbClr val="27507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cba5a72fb4169"/>
          <a:srcRect xmlns:a="http://schemas.openxmlformats.org/drawingml/2006/main" l="13643" t="0" r="136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50" y="1790700"/>
            <a:ext cx="3028950" cy="234315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a8b878c694024"/>
          <a:srcRect xmlns:a="http://schemas.openxmlformats.org/drawingml/2006/main" l="13643" t="0" r="136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14800" y="1790700"/>
            <a:ext cx="3028950" cy="234315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212A9690-D23C-45E0-A7A8-90B18DD5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29100"/>
            <a:ext cx="1562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A35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B7B9AD1-753F-411E-8E69-7DCD7048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624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▶ DEMO VIDEO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0FEE68FC-64EB-4C0D-9E7D-EC551253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6210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0:00 온보딩: 투자 목적·기간·손실 감내 등 7단계 입력</a:t>
            </a:r>
          </a:p>
        </p:txBody>
      </p:sp>
      <p:sp>
        <p:nvSpPr>
          <p:cNvPr id="13" name="surface">
            <a:extLst xmlns:a="http://schemas.openxmlformats.org/drawingml/2006/main">
              <a:ext uri="{FF2B5EF4-FFF2-40B4-BE49-F238E27FC236}">
                <a16:creationId xmlns:a16="http://schemas.microsoft.com/office/drawing/2014/main" id="{0962E261-7D66-47FB-91DF-05CBED40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4315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0:25 포트폴리오: 보유 종목, 평단, 현금 비중 입력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00FF96EF-F7F5-416C-BE9D-1BF067B1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2420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0:45 Agent 진행: Quant·Qual·Competitor·Macro 진행 상태 확인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CED01B0F-E4F0-4508-B3BD-BEFE2D9C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0525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1:15 결과: HOLD/신뢰도/포트폴리오 적합도와 근거 카드 확인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F7DB7AE1-EBB0-42AC-BCBF-52255B53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CF49AFD-3355-4781-B7C4-C71B237B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292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6A4AC51-5BD2-40D6-A533-791B7D98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911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발표장 리스크를 줄이기 위해 라이브 조작은 최소화하고, 준비된 시연 영상으로 전체 사용자 흐름을 보여준다.</a:t>
            </a:r>
          </a:p>
        </p:txBody>
      </p:sp>
    </p:spTree>
    <p:extLst>
      <p:ext uri="{BB962C8B-B14F-4D97-AF65-F5344CB8AC3E}">
        <p14:creationId xmlns:p14="http://schemas.microsoft.com/office/powerpoint/2010/main" val="21042764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2C70F7B1-A092-49E4-8A28-3DAEA602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71D0D816-391D-4C29-980C-644712D8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BBDF8801-7CAE-4499-B846-3D1D1D95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BEBBA36-2FCC-4977-9CA5-FE1E8684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A8547B5-0ECF-49D4-998E-E2E9E45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stock-agent의 차별점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57CE438-7661-40BA-8067-528F38EA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기능 나열보다 평가 가능성과 실패 대응이 차별점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07700D64-9F5E-40B0-9A8A-1D7EF931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28FDD96A-9BD5-4BF6-9762-D31A9748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085E8AA-5691-4EB0-B02B-0C1CC698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8F4C105-B3B5-4089-9E55-824CC67D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28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포트폴리오 맥락: 보유 종목·현금 비중·투자성향을 함께 해석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388FA867-6E86-415A-85C0-FC02AA0D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001206F1-84A0-419D-B4E2-3610CD5E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5595CC2-D04E-44B9-96CD-111636DE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8CE1B25-9013-4E10-9FB8-C0B5D3DF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955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도구와 LLM 분리: 숫자 계산은 Tool, 설명과 합성은 LLM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C6329143-B465-4FCA-AFE8-A198B1A3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E761B245-8688-4B80-9139-CDF1433D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A7310B3-A324-4279-A458-A791E473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A6B271A-003A-4B9E-8358-065F0883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622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Agent별 실패 격리: 부분 실패를 warning과 fallback으로 흡수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ACBF3EC6-F22E-4638-959D-7D1F284C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213C1E5F-170D-43FF-BF78-63665ECE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E4421EA-6109-4B2C-AC3F-FFDD0CE7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60875A09-D879-4548-801A-64B4EF73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290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검색 근거 중심: 뉴스·공시를 RAG evidence로 변환해 출처 없는 요약을 줄임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49874B40-9987-46FE-8189-CD9114E6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surface">
            <a:extLst xmlns:a="http://schemas.openxmlformats.org/drawingml/2006/main">
              <a:ext uri="{FF2B5EF4-FFF2-40B4-BE49-F238E27FC236}">
                <a16:creationId xmlns:a16="http://schemas.microsoft.com/office/drawing/2014/main" id="{DDA480C3-D83D-43B3-B55C-8C3E3CE7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A871B40-08F9-44F5-BD9A-7392D520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1093EA22-FA66-4DE3-A7A9-AFD5C497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95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금융 안전장치: Guardrail과 재합성 루프로 위험 표현을 완화</a:t>
            </a:r>
          </a:p>
        </p:txBody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C368AD43-4F1F-4BB7-85D2-41FD855D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5EF5C1BA-4F7E-4ADC-BB4B-44BCAF47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1D71E1DC-44D8-4C5D-8165-8500CB77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우리는 추천 엔진을 만든 것이 아니라, 개인투자자의 판단 근거를 구조화하는 분석 보조 시스템을 만들었다.</a:t>
            </a:r>
          </a:p>
        </p:txBody>
      </p:sp>
    </p:spTree>
    <p:extLst>
      <p:ext uri="{BB962C8B-B14F-4D97-AF65-F5344CB8AC3E}">
        <p14:creationId xmlns:p14="http://schemas.microsoft.com/office/powerpoint/2010/main" val="10344264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43CAD4E-AFD3-480D-B50C-0275AEE3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9A9E4036-10ED-4F6A-901E-3B75FD63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66A78F94-2705-40BE-B4DC-A04D206F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1144635-000E-451C-9F3A-115E7F1C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449C23A-8B1A-4FE1-913F-AC951B7C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상업성: 개인투자자용 PB-lite 분석 보조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6946D7A-9328-45EC-B7D8-2FAA2BA8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추천 서비스가 아니라 설명 가능한 분석 보조 모듈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C1A321D8-D8B7-40FB-B545-25FEE2EC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A798837D-D206-4508-B23B-D2038EE5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79CEE68-D922-408E-817F-F8770C3D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225E604-FCD3-4E56-B57C-4C0BA807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28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B2C: 개인투자자의 보유 종목 점검과 정기 리포트 생성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8A138BBD-7A92-4E1F-82A7-4E9075B1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250123A0-5389-42C2-AEBD-4E3B5B84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4EC35F4-75CF-4C56-862B-E07272E4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8743307-6736-4F0E-9F7C-F1C28353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955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B2B: 증권·핀테크 앱에 설명형 AI 분석 모듈로 탑재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14B69948-2925-472C-87D7-EDF6B1A1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4F05257D-24A8-46A3-9689-A2A2DB0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C078509B-8224-4D30-8FCE-7197ABD8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35177F7-DA43-4D3E-966B-6F6112A3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622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교육: 투자 판단 과정을 설명하는 실습형 튜터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B6889B9D-B25A-40AA-9413-16DE78DD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F14BD217-4A9F-4344-B260-FE795814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F58CE6F-C484-4B17-B314-68098ED1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202CED65-CEDF-4360-9E84-FD2CF20F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290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리서치 보조: 뉴스·공시·peer 요약 자동화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7D991598-8AEF-49A3-B0BD-E1E2AFE0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surface">
            <a:extLst xmlns:a="http://schemas.openxmlformats.org/drawingml/2006/main">
              <a:ext uri="{FF2B5EF4-FFF2-40B4-BE49-F238E27FC236}">
                <a16:creationId xmlns:a16="http://schemas.microsoft.com/office/drawing/2014/main" id="{A5258432-C63F-4B53-BBA0-C0F6D01A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CDB8E91F-57D1-4D36-ABBE-ABE94358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D92C9124-E853-4805-8F36-01EB1427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95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수익화: 프리미엄 리포트, 포트폴리오 모니터링, API 모듈</a:t>
            </a:r>
          </a:p>
        </p:txBody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04F9790A-4819-402F-8D85-ECE0EE01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721FFAEB-191C-4467-AF96-59C87140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F210A453-4188-4981-A3F2-704B677E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규제 리스크를 줄이기 위해 자동매매나 확정 추천이 아니라 설명 가능한 분석 보조로 포지셔닝한다.</a:t>
            </a:r>
          </a:p>
        </p:txBody>
      </p:sp>
    </p:spTree>
    <p:extLst>
      <p:ext uri="{BB962C8B-B14F-4D97-AF65-F5344CB8AC3E}">
        <p14:creationId xmlns:p14="http://schemas.microsoft.com/office/powerpoint/2010/main" val="180834030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CEF02E0B-15E0-4DD1-A22E-EC055328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33B273D8-5057-4F66-BBD3-64944058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BA2E7FE8-2718-4226-A3F9-1F81A21D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E049CC2-1DA4-4877-BE60-36956A4C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2A9C18D-99F9-416B-ABC0-74FF2B61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한계와 결론: 더 정확한 근거 연결이 다음 단계다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1D4238F-BCB9-4953-8294-F09F1E94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한계를 숨기지 않고 다음 개선 방향과 최종 메시지로 연결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E694F52E-73CC-41A3-84C4-0D07356D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E77EA25F-C298-49A2-8536-EA123473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4E88C9A-85D1-4EDD-8D49-562E6D9C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2CEA493-119D-49BD-8A49-DC8C9596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근거 품질: RAG 인용 스팬, context gating, reranker 운영 기준 고도화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E1F08199-E95A-4CE3-8F38-5B4C9340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DF469EE7-F04E-49F1-B331-FF6A118A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FCFB718-2C00-48CB-B92D-D4B96359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7A73B6A-FD67-42B4-AA6E-DBD12B54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데이터 영속화: users·holdings·analysis_cache 테이블과 이력 관리 필요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E56382AD-E15A-45DD-B97D-DABC5659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26FDF01B-63D2-404A-9EB1-4101523A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DB75C90-2370-43FF-993B-D90C5469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EAE17C6-B3D8-4CE3-82D7-BE91CDAA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커버리지: 실데이터 종목 범위와 뉴스/공시 수집 안정성 확대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17FB41FE-EC23-4610-A72E-4D156C56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D2943B99-2C84-4CB0-AF87-22702E31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F382C13-E69E-4305-8391-EF0E572A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5D4771EE-9092-479F-83CA-AA0562D7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제품화: PB 리포트 PDF/Excel, 알림, 운영 비용 제어 필요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5CD3D0B0-7705-48B2-B32C-E057017B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8C3A377-7F1C-472A-AB35-4FA4BFEC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244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F56F6A06-9883-4A25-803E-7D92443E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863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stock-agent는 투자 판단을 자동화한 것이 아니라, 판단에 필요한 근거를 Agent 구조로 분해하고 다시 합성했다.</a:t>
            </a:r>
          </a:p>
        </p:txBody>
      </p:sp>
    </p:spTree>
    <p:extLst>
      <p:ext uri="{BB962C8B-B14F-4D97-AF65-F5344CB8AC3E}">
        <p14:creationId xmlns:p14="http://schemas.microsoft.com/office/powerpoint/2010/main" val="6613880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2026-06-26T10:05:44.7570000Z</dcterms:created>
  <dcterms:modified xsi:type="dcterms:W3CDTF">2026-06-26T10:05:44.7570000Z</dcterms:modified>
</coreProperties>
</file>